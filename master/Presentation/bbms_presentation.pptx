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2"/>
  </p:notesMasterIdLst>
  <p:handoutMasterIdLst>
    <p:handoutMasterId r:id="rId13"/>
  </p:handoutMasterIdLst>
  <p:sldIdLst>
    <p:sldId id="1561" r:id="rId5"/>
    <p:sldId id="1586" r:id="rId6"/>
    <p:sldId id="1565" r:id="rId7"/>
    <p:sldId id="1567" r:id="rId8"/>
    <p:sldId id="1587" r:id="rId9"/>
    <p:sldId id="1576" r:id="rId10"/>
    <p:sldId id="15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B41AE-C457-5337-7731-5A26CEF06798}" v="314" dt="2026-04-30T09:27:56.893"/>
    <p1510:client id="{6F118225-6F70-A1A2-2374-1D3D88C2DF33}" v="3" dt="2026-04-29T19:32:26.834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5/11/2026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mendra-21/DE_BBMS/tree/main" TargetMode="Externa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EE942-DBAC-0F24-165B-F7DF7169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1212768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500"/>
              <a:t>Designing </a:t>
            </a:r>
            <a:br>
              <a:rPr lang="en-US" sz="5500" dirty="0"/>
            </a:br>
            <a:r>
              <a:rPr lang="en-US" sz="5500"/>
              <a:t>a Reporting System </a:t>
            </a:r>
            <a:br>
              <a:rPr lang="en-US" sz="5500" dirty="0"/>
            </a:br>
            <a:r>
              <a:rPr lang="en-US" sz="5500" dirty="0"/>
              <a:t>for a Blood Bank</a:t>
            </a:r>
            <a:endParaRPr lang="en-US" sz="5500" kern="1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D17B-1393-6476-FB61-27445351F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kern="1200">
                <a:latin typeface="+mn-lt"/>
                <a:ea typeface="+mn-ea"/>
                <a:cs typeface="+mn-cs"/>
              </a:rPr>
              <a:t>Building a Scalable Data Warehouse using PostgreSQL and </a:t>
            </a:r>
            <a:r>
              <a:rPr lang="en-US" sz="2000" kern="1200" err="1">
                <a:latin typeface="+mn-lt"/>
                <a:ea typeface="+mn-ea"/>
                <a:cs typeface="+mn-cs"/>
              </a:rPr>
              <a:t>dbt</a:t>
            </a:r>
            <a:endParaRPr lang="en-US" sz="2000" kern="1200">
              <a:latin typeface="+mn-lt"/>
              <a:cs typeface="Poppins Ligh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3691C-E4BC-FF40-63AB-20747A308C7F}"/>
              </a:ext>
            </a:extLst>
          </p:cNvPr>
          <p:cNvSpPr txBox="1"/>
          <p:nvPr/>
        </p:nvSpPr>
        <p:spPr>
          <a:xfrm>
            <a:off x="9398000" y="5509847"/>
            <a:ext cx="609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500"/>
              <a:t>Presented by : ​</a:t>
            </a:r>
            <a:endParaRPr lang="en-US" sz="1500">
              <a:cs typeface="Poppins Light"/>
            </a:endParaRPr>
          </a:p>
          <a:p>
            <a:pPr algn="l" rtl="0"/>
            <a:r>
              <a:rPr lang="en-US" sz="1500"/>
              <a:t>Hemendra </a:t>
            </a:r>
            <a:r>
              <a:rPr lang="en-US" sz="1500" err="1"/>
              <a:t>Chandaluri</a:t>
            </a:r>
            <a:r>
              <a:rPr lang="en-US" sz="1500"/>
              <a:t>​</a:t>
            </a:r>
            <a:endParaRPr lang="en-US" sz="1500">
              <a:cs typeface="Poppins Light"/>
            </a:endParaRPr>
          </a:p>
          <a:p>
            <a:pPr algn="l" rtl="0"/>
            <a:r>
              <a:rPr lang="en-US" sz="1500"/>
              <a:t>Associate Data Engineer​</a:t>
            </a:r>
            <a:endParaRPr lang="en-US" sz="1500">
              <a:cs typeface="Poppins Light"/>
            </a:endParaRPr>
          </a:p>
          <a:p>
            <a:pPr algn="ctr"/>
            <a:endParaRPr lang="en-US" sz="150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157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03A9F-695A-33C4-8575-FEDBBBEB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050336BA-FFBA-130E-EE45-56EB6EF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BE939-3124-D588-E66B-700A235F19F2}"/>
              </a:ext>
            </a:extLst>
          </p:cNvPr>
          <p:cNvSpPr txBox="1"/>
          <p:nvPr/>
        </p:nvSpPr>
        <p:spPr>
          <a:xfrm>
            <a:off x="837386" y="412343"/>
            <a:ext cx="10949516" cy="14061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>
                <a:latin typeface="+mj-lt"/>
                <a:ea typeface="+mj-ea"/>
                <a:cs typeface="+mj-cs"/>
              </a:rPr>
              <a:t>PROBLEM &amp; SOLUTION OVERVIEW</a:t>
            </a:r>
            <a:endParaRPr lang="en-US" sz="5000" kern="1200">
              <a:latin typeface="+mj-lt"/>
              <a:ea typeface="+mj-ea"/>
              <a:cs typeface="+mj-cs"/>
            </a:endParaRPr>
          </a:p>
        </p:txBody>
      </p:sp>
      <p:sp>
        <p:nvSpPr>
          <p:cNvPr id="91" name="sketch line">
            <a:extLst>
              <a:ext uri="{FF2B5EF4-FFF2-40B4-BE49-F238E27FC236}">
                <a16:creationId xmlns:a16="http://schemas.microsoft.com/office/drawing/2014/main" id="{B81F0232-3C98-EDC9-3F55-37784F6BA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F9F85-4CFB-F26C-D555-2317CC93F7B3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ea typeface="+mn-lt"/>
                <a:cs typeface="+mn-lt"/>
              </a:rPr>
              <a:t>Problem</a:t>
            </a:r>
            <a:endParaRPr lang="en-US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Data stored in transactional structure (OLTP)</a:t>
            </a:r>
            <a:endParaRPr lang="en-US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Not optimized for reporting </a:t>
            </a:r>
            <a:endParaRPr lang="en-US" dirty="0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Limited historical tracking </a:t>
            </a:r>
            <a:endParaRPr lang="en-US">
              <a:cs typeface="Poppins Light"/>
            </a:endParaRPr>
          </a:p>
          <a:p>
            <a:pPr>
              <a:lnSpc>
                <a:spcPct val="150000"/>
              </a:lnSpc>
            </a:pPr>
            <a:endParaRPr lang="en-US" sz="2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ea typeface="+mn-lt"/>
                <a:cs typeface="+mn-lt"/>
              </a:rPr>
              <a:t>Solution</a:t>
            </a:r>
            <a:endParaRPr lang="en-US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Built a data warehouse (OLAP)</a:t>
            </a:r>
            <a:endParaRPr lang="en-US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Transformed data into analytics models </a:t>
            </a:r>
            <a:endParaRPr lang="en-US">
              <a:cs typeface="Poppins Light"/>
            </a:endParaRPr>
          </a:p>
          <a:p>
            <a:pPr>
              <a:lnSpc>
                <a:spcPct val="150000"/>
              </a:lnSpc>
            </a:pPr>
            <a:endParaRPr lang="en-US" sz="2200" dirty="0">
              <a:cs typeface="Poppins Ligh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77673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94F24-2120-1C34-9592-685D4DFC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229B3D-C60F-2837-D169-20D62E630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C623-64A2-5769-7302-ADF33776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9" y="79497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Reporting Requirements</a:t>
            </a:r>
          </a:p>
          <a:p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64D440F-6765-028D-7975-66569562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2B43-ED30-C4C0-8A9D-9B8E55DB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69" y="1929384"/>
            <a:ext cx="10515600" cy="4730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Monthly Donation Trends by Blood Group </a:t>
            </a:r>
            <a:endParaRPr lang="en-US" sz="2000">
              <a:cs typeface="Poppins Ligh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Donor Demographics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Donor </a:t>
            </a:r>
            <a:r>
              <a:rPr lang="en-US" sz="2000">
                <a:ea typeface="+mn-lt"/>
                <a:cs typeface="+mn-lt"/>
              </a:rPr>
              <a:t>Retention Analysis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Hospital Demand vs Supply Analysis </a:t>
            </a:r>
            <a:endParaRPr lang="en-US" sz="2000">
              <a:cs typeface="Poppins Ligh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Urgent Request Analysis by Blood Group </a:t>
            </a:r>
            <a:endParaRPr lang="en-US" sz="2000">
              <a:cs typeface="Poppins Ligh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Daily Operations Summary </a:t>
            </a:r>
            <a:endParaRPr lang="en-US" sz="200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058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4BDE5-CEA8-5AB2-C086-A147551F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78BE95-22D1-995A-0CBA-7FCEE2C0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8781C-3686-AB8F-EC1E-465313DF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9" y="847888"/>
            <a:ext cx="11002433" cy="1325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/>
              <a:t>high level architecture</a:t>
            </a:r>
          </a:p>
          <a:p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196B5F5-4B22-73B8-C106-60134AF80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data warehouse&#10;&#10;AI-generated content may be incorrect.">
            <a:extLst>
              <a:ext uri="{FF2B5EF4-FFF2-40B4-BE49-F238E27FC236}">
                <a16:creationId xmlns:a16="http://schemas.microsoft.com/office/drawing/2014/main" id="{CDA44EA3-C1D9-4ACF-7EE2-C06B40E1A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893" y="2574118"/>
            <a:ext cx="10465072" cy="317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3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4109B-EB14-CB61-66E2-6A319B4A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7CC53B-2D5C-A840-1E2C-1D4CA7329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C03F8-9FAA-3BBF-BF87-E01FB4C8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9" y="79497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 WAREHOUSE LAYERS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3AC8B6F-0D8C-80CB-5691-E2D93646F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5372-E728-B952-1C3F-DFC19591F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672" y="2125033"/>
            <a:ext cx="10515600" cy="47306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8600" lvl="1" indent="0">
              <a:lnSpc>
                <a:spcPct val="100000"/>
              </a:lnSpc>
              <a:buNone/>
            </a:pPr>
            <a:r>
              <a:rPr lang="en-US" sz="2000" b="1">
                <a:ea typeface="+mn-lt"/>
                <a:cs typeface="+mn-lt"/>
              </a:rPr>
              <a:t>Raw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Truncate &amp; Load</a:t>
            </a:r>
            <a:endParaRPr lang="en-US" sz="2000" dirty="0">
              <a:ea typeface="+mn-lt"/>
              <a:cs typeface="+mn-lt"/>
            </a:endParaRPr>
          </a:p>
          <a:p>
            <a:pPr marL="228600" lvl="1" indent="0">
              <a:lnSpc>
                <a:spcPct val="100000"/>
              </a:lnSpc>
              <a:buNone/>
            </a:pPr>
            <a:endParaRPr lang="en-US" sz="2000" dirty="0">
              <a:ea typeface="+mn-lt"/>
              <a:cs typeface="+mn-lt"/>
            </a:endParaRPr>
          </a:p>
          <a:p>
            <a:pPr marL="228600" lvl="1" indent="0">
              <a:lnSpc>
                <a:spcPct val="100000"/>
              </a:lnSpc>
              <a:buNone/>
            </a:pPr>
            <a:r>
              <a:rPr lang="en-US" sz="2000" b="1">
                <a:ea typeface="+mn-lt"/>
                <a:cs typeface="+mn-lt"/>
              </a:rPr>
              <a:t>Staging</a:t>
            </a:r>
            <a:endParaRPr lang="en-US" sz="2000" b="1">
              <a:cs typeface="Poppins Light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Cleaned &amp; standardized data</a:t>
            </a:r>
            <a:endParaRPr lang="en-US" sz="2000">
              <a:cs typeface="Poppins Light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Source data as-is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Ensure Data Reliability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ea typeface="+mn-lt"/>
              <a:cs typeface="+mn-lt"/>
            </a:endParaRPr>
          </a:p>
          <a:p>
            <a:pPr marL="228600" lvl="1" indent="0">
              <a:lnSpc>
                <a:spcPct val="100000"/>
              </a:lnSpc>
              <a:buNone/>
            </a:pPr>
            <a:r>
              <a:rPr lang="en-US" sz="2000" b="1">
                <a:ea typeface="+mn-lt"/>
                <a:cs typeface="+mn-lt"/>
              </a:rPr>
              <a:t>Analytics (Star Schema)</a:t>
            </a:r>
            <a:endParaRPr lang="en-US" sz="2000" dirty="0">
              <a:ea typeface="+mn-lt"/>
              <a:cs typeface="+mn-lt"/>
            </a:endParaRPr>
          </a:p>
          <a:p>
            <a:pPr marL="514350" lvl="1" indent="-285750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Fact &amp; dimension tables </a:t>
            </a:r>
            <a:endParaRPr lang="en-US" sz="2000" dirty="0">
              <a:ea typeface="+mn-lt"/>
              <a:cs typeface="+mn-lt"/>
            </a:endParaRPr>
          </a:p>
          <a:p>
            <a:pPr marL="514350" lvl="1" indent="-285750"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Historical tracking (SCD Type 2)</a:t>
            </a:r>
            <a:endParaRPr lang="en-US" sz="2000">
              <a:cs typeface="Poppins Light"/>
            </a:endParaRPr>
          </a:p>
          <a:p>
            <a:pPr marL="228600" lvl="1" indent="0">
              <a:lnSpc>
                <a:spcPct val="100000"/>
              </a:lnSpc>
              <a:buNone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332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5C9CB-8027-565F-0C90-78CE2386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92F2FB-C63A-AE6D-9A29-2E04E7BD4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13BB5-0C4A-C79E-0E94-317DB8D7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69" y="846431"/>
            <a:ext cx="9040446" cy="1325563"/>
          </a:xfrm>
        </p:spPr>
        <p:txBody>
          <a:bodyPr>
            <a:normAutofit/>
          </a:bodyPr>
          <a:lstStyle/>
          <a:p>
            <a:r>
              <a:rPr lang="en-US" sz="5400"/>
              <a:t>Reports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ECD7B1D-D6CC-FB33-7099-40C899837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2978-2452-6F09-54E8-B5E18DF25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18" y="2680651"/>
            <a:ext cx="10515600" cy="4065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Data sourced from fact donations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Aggregated by month &amp; blood group</a:t>
            </a:r>
            <a:endParaRPr lang="en-US" sz="2000" dirty="0">
              <a:cs typeface="Poppins Light"/>
            </a:endParaRPr>
          </a:p>
          <a:p>
            <a:r>
              <a:rPr lang="en-US" sz="2000">
                <a:ea typeface="+mn-lt"/>
                <a:cs typeface="+mn-lt"/>
              </a:rPr>
              <a:t>Visualized in Power BI</a:t>
            </a:r>
            <a:endParaRPr lang="en-US" sz="2000" dirty="0">
              <a:cs typeface="Poppins Light"/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Key Insights:</a:t>
            </a:r>
            <a:endParaRPr lang="en-US" sz="2000" dirty="0">
              <a:cs typeface="Poppins Ligh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Donation volumes fluctuate across months</a:t>
            </a:r>
            <a:endParaRPr lang="en-US" sz="2000" dirty="0">
              <a:cs typeface="Poppins Ligh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Enables proactive donor engagement planning</a:t>
            </a:r>
            <a:endParaRPr lang="en-US" sz="2000" dirty="0">
              <a:cs typeface="Poppins Light"/>
            </a:endParaRPr>
          </a:p>
          <a:p>
            <a:pPr>
              <a:buFont typeface="Arial"/>
              <a:buChar char="•"/>
            </a:pPr>
            <a:endParaRPr lang="en-US" sz="2000" dirty="0">
              <a:cs typeface="Poppi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0C6AE-712B-A86B-3670-223C12AB519C}"/>
              </a:ext>
            </a:extLst>
          </p:cNvPr>
          <p:cNvSpPr txBox="1"/>
          <p:nvPr/>
        </p:nvSpPr>
        <p:spPr>
          <a:xfrm>
            <a:off x="670625" y="2002635"/>
            <a:ext cx="9916583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arenR"/>
            </a:pPr>
            <a:r>
              <a:rPr lang="en-US" sz="2500" b="1">
                <a:cs typeface="Poppins Light"/>
              </a:rPr>
              <a:t>Monthly Donation Trends by Blood Group</a:t>
            </a:r>
            <a:endParaRPr lang="en-US" sz="2500" b="1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1286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103FF6-E51F-DF2A-80C2-F189531DE83C}"/>
              </a:ext>
            </a:extLst>
          </p:cNvPr>
          <p:cNvSpPr txBox="1"/>
          <p:nvPr/>
        </p:nvSpPr>
        <p:spPr>
          <a:xfrm>
            <a:off x="3982590" y="2992641"/>
            <a:ext cx="422030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latin typeface="Lora"/>
              </a:rPr>
              <a:t>THANK YOU!</a:t>
            </a:r>
            <a:endParaRPr lang="en-US" sz="5000" dirty="0">
              <a:latin typeface="Lor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73570-F2A0-6B7D-F191-E85834A07640}"/>
              </a:ext>
            </a:extLst>
          </p:cNvPr>
          <p:cNvSpPr txBox="1"/>
          <p:nvPr/>
        </p:nvSpPr>
        <p:spPr>
          <a:xfrm>
            <a:off x="1265115" y="5561949"/>
            <a:ext cx="96585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Poppins Light"/>
              </a:rPr>
              <a:t>Access the Complete Project from here: </a:t>
            </a:r>
            <a:r>
              <a:rPr lang="en-US" dirty="0">
                <a:cs typeface="Poppins Light"/>
                <a:hlinkClick r:id="rId2"/>
              </a:rPr>
              <a:t>Blood Bank Analytics &amp; Reporting System</a:t>
            </a:r>
            <a:endParaRPr lang="en-US" b="1">
              <a:solidFill>
                <a:srgbClr val="FFFFFF"/>
              </a:solidFill>
              <a:highlight>
                <a:srgbClr val="010409"/>
              </a:highlight>
              <a:cs typeface="Poppins Light"/>
            </a:endParaRPr>
          </a:p>
          <a:p>
            <a:endParaRPr lang="en-US" dirty="0">
              <a:solidFill>
                <a:srgbClr val="000000"/>
              </a:solidFill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2540131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371483-7485-4DB1-A377-A2D4A0B18DA0}">
  <we:reference id="e849ddb8-6bbd-4833-bd4b-59030099d63e" version="1.0.0.0" store="excatalog" storeType="excatalog"/>
  <we:alternateReferences>
    <we:reference id="WA200000113" version="1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Gradient Circle</vt:lpstr>
      <vt:lpstr>Designing  a Reporting System  for a Blood Bank</vt:lpstr>
      <vt:lpstr>PowerPoint Presentation</vt:lpstr>
      <vt:lpstr>Reporting Requirements </vt:lpstr>
      <vt:lpstr>high level architecture </vt:lpstr>
      <vt:lpstr>DATA WAREHOUSE LAYERS</vt:lpstr>
      <vt:lpstr>Reports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419</cp:revision>
  <dcterms:created xsi:type="dcterms:W3CDTF">2026-03-05T09:40:56Z</dcterms:created>
  <dcterms:modified xsi:type="dcterms:W3CDTF">2026-05-11T15:33:33Z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