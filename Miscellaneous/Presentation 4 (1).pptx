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30"/>
  </p:notesMasterIdLst>
  <p:handoutMasterIdLst>
    <p:handoutMasterId r:id="rId31"/>
  </p:handoutMasterIdLst>
  <p:sldIdLst>
    <p:sldId id="1497" r:id="rId5"/>
    <p:sldId id="1521" r:id="rId6"/>
    <p:sldId id="1520" r:id="rId7"/>
    <p:sldId id="1517" r:id="rId8"/>
    <p:sldId id="1522" r:id="rId9"/>
    <p:sldId id="1523" r:id="rId10"/>
    <p:sldId id="1524" r:id="rId11"/>
    <p:sldId id="1525" r:id="rId12"/>
    <p:sldId id="1526" r:id="rId13"/>
    <p:sldId id="1528" r:id="rId14"/>
    <p:sldId id="1529" r:id="rId15"/>
    <p:sldId id="1502" r:id="rId16"/>
    <p:sldId id="1527" r:id="rId17"/>
    <p:sldId id="1530" r:id="rId18"/>
    <p:sldId id="1531" r:id="rId19"/>
    <p:sldId id="1532" r:id="rId20"/>
    <p:sldId id="1533" r:id="rId21"/>
    <p:sldId id="1534" r:id="rId22"/>
    <p:sldId id="1536" r:id="rId23"/>
    <p:sldId id="1537" r:id="rId24"/>
    <p:sldId id="1538" r:id="rId25"/>
    <p:sldId id="1539" r:id="rId26"/>
    <p:sldId id="1540" r:id="rId27"/>
    <p:sldId id="1541" r:id="rId28"/>
    <p:sldId id="151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6CA437-5BE6-B0C1-A5F3-D839383FED58}" v="2718" dt="2026-03-05T14:23:44.210"/>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79" autoAdjust="0"/>
  </p:normalViewPr>
  <p:slideViewPr>
    <p:cSldViewPr snapToGrid="0">
      <p:cViewPr>
        <p:scale>
          <a:sx n="100" d="100"/>
          <a:sy n="100" d="100"/>
        </p:scale>
        <p:origin x="-82" y="-624"/>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3/5/2026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dirty="0"/>
              <a:t>Click icon to add picture</a:t>
            </a:r>
          </a:p>
        </p:txBody>
      </p:sp>
      <p:sp>
        <p:nvSpPr>
          <p:cNvPr id="4" name="Date Placeholder 2">
            <a:extLst>
              <a:ext uri="{FF2B5EF4-FFF2-40B4-BE49-F238E27FC236}">
                <a16:creationId xmlns:a16="http://schemas.microsoft.com/office/drawing/2014/main" id="{0FC0FA77-D157-35E3-0B4D-11C0F67E63F3}"/>
              </a:ext>
            </a:extLst>
          </p:cNvPr>
          <p:cNvSpPr>
            <a:spLocks noGrp="1"/>
          </p:cNvSpPr>
          <p:nvPr>
            <p:ph type="dt" sz="half" idx="10"/>
          </p:nvPr>
        </p:nvSpPr>
        <p:spPr>
          <a:xfrm>
            <a:off x="347132" y="6529916"/>
            <a:ext cx="3284341" cy="328084"/>
          </a:xfrm>
        </p:spPr>
        <p:txBody>
          <a:bodyPr/>
          <a:lstStyle/>
          <a:p>
            <a:fld id="{175A1B29-DFBD-4673-8328-3ED6619AAB50}" type="datetime1">
              <a:rPr lang="en-US" smtClean="0"/>
              <a:t>3/5/2026</a:t>
            </a:fld>
            <a:endParaRPr lang="en-US" dirty="0"/>
          </a:p>
        </p:txBody>
      </p:sp>
      <p:sp>
        <p:nvSpPr>
          <p:cNvPr id="5" name="Footer Placeholder 3">
            <a:extLst>
              <a:ext uri="{FF2B5EF4-FFF2-40B4-BE49-F238E27FC236}">
                <a16:creationId xmlns:a16="http://schemas.microsoft.com/office/drawing/2014/main" id="{9D55EDDF-CA01-E393-D8E9-0618A68B21A8}"/>
              </a:ext>
            </a:extLst>
          </p:cNvPr>
          <p:cNvSpPr>
            <a:spLocks noGrp="1"/>
          </p:cNvSpPr>
          <p:nvPr>
            <p:ph type="ftr" sz="quarter" idx="11"/>
          </p:nvPr>
        </p:nvSpPr>
        <p:spPr>
          <a:xfrm>
            <a:off x="8660019" y="6529916"/>
            <a:ext cx="2805405" cy="328084"/>
          </a:xfrm>
        </p:spPr>
        <p:txBody>
          <a:bodyPr/>
          <a:lstStyle/>
          <a:p>
            <a:r>
              <a:rPr lang="en-US" dirty="0"/>
              <a:t>Sample Footer Text</a:t>
            </a:r>
          </a:p>
        </p:txBody>
      </p:sp>
      <p:sp>
        <p:nvSpPr>
          <p:cNvPr id="6" name="Slide Number Placeholder 4">
            <a:extLst>
              <a:ext uri="{FF2B5EF4-FFF2-40B4-BE49-F238E27FC236}">
                <a16:creationId xmlns:a16="http://schemas.microsoft.com/office/drawing/2014/main" id="{AFD1BB6C-22F1-3135-9434-A294C25CC3D5}"/>
              </a:ext>
            </a:extLst>
          </p:cNvPr>
          <p:cNvSpPr>
            <a:spLocks noGrp="1"/>
          </p:cNvSpPr>
          <p:nvPr>
            <p:ph type="sldNum" sz="quarter" idx="12"/>
          </p:nvPr>
        </p:nvSpPr>
        <p:spPr>
          <a:xfrm>
            <a:off x="11415660" y="6529916"/>
            <a:ext cx="429207" cy="328084"/>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393522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64B1540E-CB71-48F2-BE70-F5CE056CFE1B}" type="datetime1">
              <a:rPr lang="en-US" smtClean="0"/>
              <a:t>3/5/2026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B05D4B22-4D6B-3463-9517-CEFA7D2A6E7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177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3/5/2026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7" name="Rectangle: Rounded Corners 6">
            <a:extLst>
              <a:ext uri="{FF2B5EF4-FFF2-40B4-BE49-F238E27FC236}">
                <a16:creationId xmlns:a16="http://schemas.microsoft.com/office/drawing/2014/main" id="{E5DF5215-34B8-BE6B-A816-58B2F37B1D5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97168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59537" y="905256"/>
            <a:ext cx="4206240"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9536"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Picture Placeholder 5">
            <a:extLst>
              <a:ext uri="{FF2B5EF4-FFF2-40B4-BE49-F238E27FC236}">
                <a16:creationId xmlns:a16="http://schemas.microsoft.com/office/drawing/2014/main" id="{C77B7186-FB14-CA62-FE96-5476125CC1B8}"/>
              </a:ext>
            </a:extLst>
          </p:cNvPr>
          <p:cNvSpPr>
            <a:spLocks noGrp="1"/>
          </p:cNvSpPr>
          <p:nvPr>
            <p:ph type="pic" sz="quarter" idx="13"/>
          </p:nvPr>
        </p:nvSpPr>
        <p:spPr>
          <a:xfrm>
            <a:off x="5596128" y="333756"/>
            <a:ext cx="6237732" cy="6190488"/>
          </a:xfrm>
          <a:custGeom>
            <a:avLst/>
            <a:gdLst>
              <a:gd name="connsiteX0" fmla="*/ 0 w 6237732"/>
              <a:gd name="connsiteY0" fmla="*/ 0 h 6190488"/>
              <a:gd name="connsiteX1" fmla="*/ 6051089 w 6237732"/>
              <a:gd name="connsiteY1" fmla="*/ 0 h 6190488"/>
              <a:gd name="connsiteX2" fmla="*/ 6237732 w 6237732"/>
              <a:gd name="connsiteY2" fmla="*/ 186643 h 6190488"/>
              <a:gd name="connsiteX3" fmla="*/ 6237732 w 6237732"/>
              <a:gd name="connsiteY3" fmla="*/ 6003845 h 6190488"/>
              <a:gd name="connsiteX4" fmla="*/ 6051089 w 6237732"/>
              <a:gd name="connsiteY4" fmla="*/ 6190488 h 6190488"/>
              <a:gd name="connsiteX5" fmla="*/ 0 w 6237732"/>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7732" h="6190488">
                <a:moveTo>
                  <a:pt x="0" y="0"/>
                </a:moveTo>
                <a:lnTo>
                  <a:pt x="6051089" y="0"/>
                </a:lnTo>
                <a:cubicBezTo>
                  <a:pt x="6154169" y="0"/>
                  <a:pt x="6237732" y="83563"/>
                  <a:pt x="6237732" y="186643"/>
                </a:cubicBezTo>
                <a:lnTo>
                  <a:pt x="6237732" y="6003845"/>
                </a:lnTo>
                <a:cubicBezTo>
                  <a:pt x="6237732" y="6106925"/>
                  <a:pt x="6154169" y="6190488"/>
                  <a:pt x="6051089" y="6190488"/>
                </a:cubicBezTo>
                <a:lnTo>
                  <a:pt x="0" y="6190488"/>
                </a:ln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47133" y="6529916"/>
            <a:ext cx="1951777" cy="328084"/>
          </a:xfrm>
          <a:prstGeom prst="rect">
            <a:avLst/>
          </a:prstGeom>
        </p:spPr>
        <p:txBody>
          <a:bodyPr/>
          <a:lstStyle/>
          <a:p>
            <a:fld id="{B4AA5E08-0B46-4D4C-9A1D-1895CC169C50}" type="datetime1">
              <a:rPr lang="en-US" smtClean="0"/>
              <a:t>3/5/2026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880928"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636569"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27AE6C76-D3EE-C74F-F49E-97F6141F5D1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60663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703F4AEB-E597-882F-3A69-A923B8DED423}"/>
              </a:ext>
            </a:extLst>
          </p:cNvPr>
          <p:cNvPicPr>
            <a:picLocks noChangeAspect="1"/>
          </p:cNvPicPr>
          <p:nvPr/>
        </p:nvPicPr>
        <p:blipFill>
          <a:blip r:embed="rId2">
            <a:extLst>
              <a:ext uri="{28A0092B-C50C-407E-A947-70E740481C1C}">
                <a14:useLocalDpi xmlns:a14="http://schemas.microsoft.com/office/drawing/2010/main" val="0"/>
              </a:ext>
            </a:extLst>
          </a:blip>
          <a:srcRect t="11857"/>
          <a:stretch/>
        </p:blipFill>
        <p:spPr>
          <a:xfrm>
            <a:off x="398705" y="0"/>
            <a:ext cx="5697291" cy="502177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b">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9017" y="4349578"/>
            <a:ext cx="6821182" cy="138472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804512D9-A095-4355-9551-356CB2C0D09E}" type="datetime1">
              <a:rPr lang="en-US" smtClean="0"/>
              <a:t>3/5/2026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CC5621C6-56CB-3166-B017-50A927415F64}"/>
              </a:ext>
            </a:extLst>
          </p:cNvPr>
          <p:cNvCxnSpPr>
            <a:cxnSpLocks/>
          </p:cNvCxnSpPr>
          <p:nvPr/>
        </p:nvCxnSpPr>
        <p:spPr>
          <a:xfrm>
            <a:off x="637839" y="4236969"/>
            <a:ext cx="0" cy="1384725"/>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397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02AE2374-EA36-E826-C9F3-73CD3978F48E}"/>
              </a:ext>
            </a:extLst>
          </p:cNvPr>
          <p:cNvPicPr>
            <a:picLocks noChangeAspect="1"/>
          </p:cNvPicPr>
          <p:nvPr/>
        </p:nvPicPr>
        <p:blipFill>
          <a:blip r:embed="rId2">
            <a:extLst>
              <a:ext uri="{28A0092B-C50C-407E-A947-70E740481C1C}">
                <a14:useLocalDpi xmlns:a14="http://schemas.microsoft.com/office/drawing/2010/main" val="0"/>
              </a:ext>
            </a:extLst>
          </a:blip>
          <a:srcRect r="6568" b="47295"/>
          <a:stretch/>
        </p:blipFill>
        <p:spPr>
          <a:xfrm>
            <a:off x="3701142" y="2068286"/>
            <a:ext cx="8490855" cy="478971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0323" y="4617138"/>
            <a:ext cx="6853511" cy="10149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AED07DE6-50D5-4B21-9405-DD62C0D4DC65}" type="datetime1">
              <a:rPr lang="en-US" smtClean="0"/>
              <a:t>3/5/2026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6E2B0C21-F380-74EA-96A8-0858FD0075A4}"/>
              </a:ext>
            </a:extLst>
          </p:cNvPr>
          <p:cNvCxnSpPr>
            <a:cxnSpLocks/>
          </p:cNvCxnSpPr>
          <p:nvPr/>
        </p:nvCxnSpPr>
        <p:spPr>
          <a:xfrm>
            <a:off x="755780" y="4492300"/>
            <a:ext cx="0" cy="112939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2124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17639-19C5-F877-6AAE-FF488C7936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72615" y="905615"/>
            <a:ext cx="5046770" cy="504677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888" y="1427162"/>
            <a:ext cx="9484224"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14850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C8E66873-82AB-4D6B-96C7-8222581A9F4D}" type="datetime1">
              <a:rPr lang="en-US" smtClean="0"/>
              <a:t>3/5/2026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7536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7D4B28D-BD47-8092-F202-DCD18D1BAE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198517"/>
            <a:ext cx="4438650" cy="4438650"/>
          </a:xfrm>
          <a:prstGeom prst="rect">
            <a:avLst/>
          </a:prstGeom>
        </p:spPr>
      </p:pic>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3/5/2026</a:t>
            </a:fld>
            <a:endParaRPr lang="en-US" dirty="0"/>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57236231-7728-F430-19B7-A4956EAFC196}"/>
              </a:ext>
            </a:extLst>
          </p:cNvPr>
          <p:cNvCxnSpPr/>
          <p:nvPr/>
        </p:nvCxnSpPr>
        <p:spPr>
          <a:xfrm>
            <a:off x="1450428" y="2522483"/>
            <a:ext cx="0" cy="26249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7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2" descr="A purple circle with black background&#10;&#10;AI-generated content may be incorrect.">
            <a:extLst>
              <a:ext uri="{FF2B5EF4-FFF2-40B4-BE49-F238E27FC236}">
                <a16:creationId xmlns:a16="http://schemas.microsoft.com/office/drawing/2014/main" id="{9ECA965F-086A-7B72-BC9F-EA4CF32BCAAD}"/>
              </a:ext>
            </a:extLst>
          </p:cNvPr>
          <p:cNvPicPr>
            <a:picLocks noChangeAspect="1"/>
          </p:cNvPicPr>
          <p:nvPr/>
        </p:nvPicPr>
        <p:blipFill>
          <a:blip r:embed="rId2">
            <a:extLst>
              <a:ext uri="{28A0092B-C50C-407E-A947-70E740481C1C}">
                <a14:useLocalDpi xmlns:a14="http://schemas.microsoft.com/office/drawing/2010/main" val="0"/>
              </a:ext>
            </a:extLst>
          </a:blip>
          <a:srcRect b="11502"/>
          <a:stretch/>
        </p:blipFill>
        <p:spPr>
          <a:xfrm>
            <a:off x="421566" y="1836225"/>
            <a:ext cx="5674434" cy="502177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3/5/2026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869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pic>
        <p:nvPicPr>
          <p:cNvPr id="2" name="Picture 1" descr="A purple circle with black background&#10;&#10;AI-generated content may be incorrect.">
            <a:extLst>
              <a:ext uri="{FF2B5EF4-FFF2-40B4-BE49-F238E27FC236}">
                <a16:creationId xmlns:a16="http://schemas.microsoft.com/office/drawing/2014/main" id="{0B3EB36B-144D-A648-1BD5-DBEDDC79D093}"/>
              </a:ext>
            </a:extLst>
          </p:cNvPr>
          <p:cNvPicPr>
            <a:picLocks noChangeAspect="1"/>
          </p:cNvPicPr>
          <p:nvPr/>
        </p:nvPicPr>
        <p:blipFill>
          <a:blip r:embed="rId2">
            <a:extLst>
              <a:ext uri="{28A0092B-C50C-407E-A947-70E740481C1C}">
                <a14:useLocalDpi xmlns:a14="http://schemas.microsoft.com/office/drawing/2010/main" val="0"/>
              </a:ext>
            </a:extLst>
          </a:blip>
          <a:srcRect l="12178" b="16685"/>
          <a:stretch/>
        </p:blipFill>
        <p:spPr>
          <a:xfrm>
            <a:off x="0" y="2754087"/>
            <a:ext cx="4325917" cy="4103914"/>
          </a:xfrm>
          <a:prstGeom prst="rect">
            <a:avLst/>
          </a:prstGeom>
        </p:spPr>
      </p:pic>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3/5/2026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47126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purple circle with black background&#10;&#10;AI-generated content may be incorrect.">
            <a:extLst>
              <a:ext uri="{FF2B5EF4-FFF2-40B4-BE49-F238E27FC236}">
                <a16:creationId xmlns:a16="http://schemas.microsoft.com/office/drawing/2014/main" id="{B90D1FE6-C620-8AEA-8E16-817F8F3005D7}"/>
              </a:ext>
            </a:extLst>
          </p:cNvPr>
          <p:cNvPicPr>
            <a:picLocks noChangeAspect="1"/>
          </p:cNvPicPr>
          <p:nvPr/>
        </p:nvPicPr>
        <p:blipFill>
          <a:blip r:embed="rId2">
            <a:extLst>
              <a:ext uri="{28A0092B-C50C-407E-A947-70E740481C1C}">
                <a14:useLocalDpi xmlns:a14="http://schemas.microsoft.com/office/drawing/2010/main" val="0"/>
              </a:ext>
            </a:extLst>
          </a:blip>
          <a:srcRect r="14905" b="19272"/>
          <a:stretch/>
        </p:blipFill>
        <p:spPr>
          <a:xfrm>
            <a:off x="7866083" y="2754085"/>
            <a:ext cx="4325917" cy="4103915"/>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47132" y="6529916"/>
            <a:ext cx="3284341" cy="328084"/>
          </a:xfrm>
          <a:prstGeom prst="rect">
            <a:avLst/>
          </a:prstGeom>
        </p:spPr>
        <p:txBody>
          <a:bodyPr/>
          <a:lstStyle/>
          <a:p>
            <a:fld id="{B75827B4-FD33-43BF-9F9D-5FEB6B504CD5}" type="datetime1">
              <a:rPr lang="en-US" smtClean="0"/>
              <a:t>3/5/2026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8192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14901" y="907302"/>
            <a:ext cx="4700219" cy="1808466"/>
          </a:xfrm>
        </p:spPr>
        <p:txBody>
          <a:bodyPr anchor="b">
            <a:normAutofit/>
          </a:bodyPr>
          <a:lstStyle>
            <a:lvl1pPr>
              <a:defRPr sz="4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76C507B-B242-4119-B1FF-3014636CAB61}"/>
              </a:ext>
            </a:extLst>
          </p:cNvPr>
          <p:cNvSpPr>
            <a:spLocks noGrp="1"/>
          </p:cNvSpPr>
          <p:nvPr>
            <p:ph type="pic" sz="quarter" idx="14"/>
          </p:nvPr>
        </p:nvSpPr>
        <p:spPr>
          <a:xfrm>
            <a:off x="358140" y="333756"/>
            <a:ext cx="5740908" cy="6190488"/>
          </a:xfrm>
          <a:custGeom>
            <a:avLst/>
            <a:gdLst>
              <a:gd name="connsiteX0" fmla="*/ 186643 w 5740908"/>
              <a:gd name="connsiteY0" fmla="*/ 0 h 6190488"/>
              <a:gd name="connsiteX1" fmla="*/ 5740908 w 5740908"/>
              <a:gd name="connsiteY1" fmla="*/ 0 h 6190488"/>
              <a:gd name="connsiteX2" fmla="*/ 5740908 w 5740908"/>
              <a:gd name="connsiteY2" fmla="*/ 6190488 h 6190488"/>
              <a:gd name="connsiteX3" fmla="*/ 186643 w 5740908"/>
              <a:gd name="connsiteY3" fmla="*/ 6190488 h 6190488"/>
              <a:gd name="connsiteX4" fmla="*/ 0 w 5740908"/>
              <a:gd name="connsiteY4" fmla="*/ 6003845 h 6190488"/>
              <a:gd name="connsiteX5" fmla="*/ 0 w 5740908"/>
              <a:gd name="connsiteY5" fmla="*/ 186643 h 6190488"/>
              <a:gd name="connsiteX6" fmla="*/ 186643 w 5740908"/>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0908" h="6190488">
                <a:moveTo>
                  <a:pt x="186643" y="0"/>
                </a:moveTo>
                <a:lnTo>
                  <a:pt x="5740908" y="0"/>
                </a:lnTo>
                <a:lnTo>
                  <a:pt x="5740908"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14901" y="2825496"/>
            <a:ext cx="4700219" cy="31252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a:extLst>
              <a:ext uri="{FF2B5EF4-FFF2-40B4-BE49-F238E27FC236}">
                <a16:creationId xmlns:a16="http://schemas.microsoft.com/office/drawing/2014/main" id="{168DD83C-D23D-6D82-F95D-3B845F07850D}"/>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3/5/2026</a:t>
            </a:fld>
            <a:endParaRPr lang="en-US" dirty="0"/>
          </a:p>
        </p:txBody>
      </p:sp>
      <p:sp>
        <p:nvSpPr>
          <p:cNvPr id="9" name="Footer Placeholder 5">
            <a:extLst>
              <a:ext uri="{FF2B5EF4-FFF2-40B4-BE49-F238E27FC236}">
                <a16:creationId xmlns:a16="http://schemas.microsoft.com/office/drawing/2014/main" id="{AE25BD38-48AE-AB7F-6C54-5CB0286457FC}"/>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10" name="Slide Number Placeholder 6">
            <a:extLst>
              <a:ext uri="{FF2B5EF4-FFF2-40B4-BE49-F238E27FC236}">
                <a16:creationId xmlns:a16="http://schemas.microsoft.com/office/drawing/2014/main" id="{E6A02DBF-D88B-3129-23EF-1ECA540096B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1" name="Rectangle: Rounded Corners 10">
            <a:extLst>
              <a:ext uri="{FF2B5EF4-FFF2-40B4-BE49-F238E27FC236}">
                <a16:creationId xmlns:a16="http://schemas.microsoft.com/office/drawing/2014/main" id="{F4855E23-77DB-A52C-BC0E-EF3C3F4A95C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5724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3B13B15A-B652-48F5-A365-F1C590938A4C}" type="datetime1">
              <a:rPr lang="en-US" smtClean="0"/>
              <a:t>3/5/2026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2359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BA0B4E8-F389-4DD5-B3EC-37E88D1AD78F}" type="datetime1">
              <a:rPr lang="en-US" smtClean="0"/>
              <a:t>3/5/2026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91329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A942A636-76C4-4EB1-A2CC-2ABF54421FE3}" type="datetime1">
              <a:rPr lang="en-US" smtClean="0"/>
              <a:t>3/5/2026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782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95B423A5-C243-487B-A652-39F00748165E}" type="datetime1">
              <a:rPr lang="en-US" smtClean="0"/>
              <a:t>3/5/2026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48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0430AD89-C002-420D-B2A6-406343AFF059}" type="datetime1">
              <a:rPr lang="en-US" smtClean="0"/>
              <a:t>3/5/2026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6583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0893" y="907303"/>
            <a:ext cx="10465073" cy="1132258"/>
          </a:xfrm>
        </p:spPr>
        <p:txBody>
          <a:bodyPr/>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60893" y="2367643"/>
            <a:ext cx="10465073" cy="35830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4BC6E8D4-25D1-4A44-BB87-23C6E7F03C94}" type="datetime1">
              <a:rPr lang="en-US" smtClean="0"/>
              <a:t>3/5/2026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8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21705" y="927238"/>
            <a:ext cx="6024894"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C62C8996-C286-B245-2F06-E6E33F9907E0}"/>
              </a:ext>
            </a:extLst>
          </p:cNvPr>
          <p:cNvSpPr>
            <a:spLocks noGrp="1"/>
          </p:cNvSpPr>
          <p:nvPr>
            <p:ph type="pic" sz="quarter" idx="13"/>
          </p:nvPr>
        </p:nvSpPr>
        <p:spPr>
          <a:xfrm>
            <a:off x="358140" y="333756"/>
            <a:ext cx="4435746" cy="6190488"/>
          </a:xfrm>
          <a:custGeom>
            <a:avLst/>
            <a:gdLst>
              <a:gd name="connsiteX0" fmla="*/ 186643 w 4435746"/>
              <a:gd name="connsiteY0" fmla="*/ 0 h 6190488"/>
              <a:gd name="connsiteX1" fmla="*/ 4435746 w 4435746"/>
              <a:gd name="connsiteY1" fmla="*/ 0 h 6190488"/>
              <a:gd name="connsiteX2" fmla="*/ 4435746 w 4435746"/>
              <a:gd name="connsiteY2" fmla="*/ 6190488 h 6190488"/>
              <a:gd name="connsiteX3" fmla="*/ 186643 w 4435746"/>
              <a:gd name="connsiteY3" fmla="*/ 6190488 h 6190488"/>
              <a:gd name="connsiteX4" fmla="*/ 0 w 4435746"/>
              <a:gd name="connsiteY4" fmla="*/ 6003845 h 6190488"/>
              <a:gd name="connsiteX5" fmla="*/ 0 w 4435746"/>
              <a:gd name="connsiteY5" fmla="*/ 186643 h 6190488"/>
              <a:gd name="connsiteX6" fmla="*/ 186643 w 4435746"/>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746" h="6190488">
                <a:moveTo>
                  <a:pt x="186643" y="0"/>
                </a:moveTo>
                <a:lnTo>
                  <a:pt x="4435746" y="0"/>
                </a:lnTo>
                <a:lnTo>
                  <a:pt x="4435746"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21704" y="2204566"/>
            <a:ext cx="6004263" cy="376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21704" y="6529914"/>
            <a:ext cx="3554817" cy="328085"/>
          </a:xfrm>
          <a:prstGeom prst="rect">
            <a:avLst/>
          </a:prstGeom>
        </p:spPr>
        <p:txBody>
          <a:bodyPr/>
          <a:lstStyle/>
          <a:p>
            <a:fld id="{78F868A0-EF2B-4F3B-A196-0BED12045750}" type="datetime1">
              <a:rPr lang="en-US" smtClean="0"/>
              <a:t>3/5/2026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99886564-48A7-D356-B519-1753B487C99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8843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6037236"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59536" y="2202135"/>
            <a:ext cx="6037365" cy="3748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0EB951-12A5-039B-D658-D0E726B23825}"/>
              </a:ext>
            </a:extLst>
          </p:cNvPr>
          <p:cNvSpPr>
            <a:spLocks noGrp="1"/>
          </p:cNvSpPr>
          <p:nvPr>
            <p:ph type="pic" sz="quarter" idx="13"/>
          </p:nvPr>
        </p:nvSpPr>
        <p:spPr>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47132" y="6529916"/>
            <a:ext cx="3284341" cy="328085"/>
          </a:xfrm>
          <a:prstGeom prst="rect">
            <a:avLst/>
          </a:prstGeom>
        </p:spPr>
        <p:txBody>
          <a:bodyPr/>
          <a:lstStyle/>
          <a:p>
            <a:fld id="{3D127003-26EA-4E29-A915-6163B9A3B02A}" type="datetime1">
              <a:rPr lang="en-US" smtClean="0"/>
              <a:t>3/5/2026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529916"/>
            <a:ext cx="2805405" cy="328084"/>
          </a:xfrm>
          <a:prstGeom prst="rect">
            <a:avLst/>
          </a:prstGeo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28ED8B4C-3B70-7229-7BC1-2CA7F422854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689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4995" y="912388"/>
            <a:ext cx="6800971" cy="932688"/>
          </a:xfrm>
        </p:spPr>
        <p:txBody>
          <a:bodyPr anchor="b"/>
          <a:lstStyle>
            <a:lvl1pPr>
              <a:defRPr sz="44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5D00EEA7-B56C-0FE1-DD57-6EA768316748}"/>
              </a:ext>
            </a:extLst>
          </p:cNvPr>
          <p:cNvSpPr>
            <a:spLocks noGrp="1"/>
          </p:cNvSpPr>
          <p:nvPr>
            <p:ph type="pic" sz="quarter" idx="13"/>
          </p:nvPr>
        </p:nvSpPr>
        <p:spPr>
          <a:xfrm>
            <a:off x="358140" y="333756"/>
            <a:ext cx="3665220" cy="6190488"/>
          </a:xfrm>
          <a:custGeom>
            <a:avLst/>
            <a:gdLst>
              <a:gd name="connsiteX0" fmla="*/ 186643 w 3665220"/>
              <a:gd name="connsiteY0" fmla="*/ 0 h 6190488"/>
              <a:gd name="connsiteX1" fmla="*/ 3665220 w 3665220"/>
              <a:gd name="connsiteY1" fmla="*/ 0 h 6190488"/>
              <a:gd name="connsiteX2" fmla="*/ 3665220 w 3665220"/>
              <a:gd name="connsiteY2" fmla="*/ 6190488 h 6190488"/>
              <a:gd name="connsiteX3" fmla="*/ 186643 w 3665220"/>
              <a:gd name="connsiteY3" fmla="*/ 6190488 h 6190488"/>
              <a:gd name="connsiteX4" fmla="*/ 0 w 3665220"/>
              <a:gd name="connsiteY4" fmla="*/ 6003845 h 6190488"/>
              <a:gd name="connsiteX5" fmla="*/ 0 w 3665220"/>
              <a:gd name="connsiteY5" fmla="*/ 186643 h 6190488"/>
              <a:gd name="connsiteX6" fmla="*/ 186643 w 366522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5220" h="6190488">
                <a:moveTo>
                  <a:pt x="186643" y="0"/>
                </a:moveTo>
                <a:lnTo>
                  <a:pt x="3665220" y="0"/>
                </a:lnTo>
                <a:lnTo>
                  <a:pt x="3665220"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2499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529916"/>
            <a:ext cx="3494314" cy="328084"/>
          </a:xfrm>
          <a:prstGeom prst="rect">
            <a:avLst/>
          </a:prstGeom>
        </p:spPr>
        <p:txBody>
          <a:bodyPr/>
          <a:lstStyle/>
          <a:p>
            <a:fld id="{FC8398B2-10D9-44F6-A6BD-93FBB0F2ED95}" type="datetime1">
              <a:rPr lang="en-US" smtClean="0"/>
              <a:t>3/5/2026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42F2155E-50E7-C260-4CB2-28DE7F08650E}"/>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982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99AA6AA-9FAC-AA42-597B-AAAAEDA9E09F}"/>
              </a:ext>
            </a:extLst>
          </p:cNvPr>
          <p:cNvSpPr>
            <a:spLocks noGrp="1"/>
          </p:cNvSpPr>
          <p:nvPr>
            <p:ph type="title"/>
          </p:nvPr>
        </p:nvSpPr>
        <p:spPr>
          <a:xfrm>
            <a:off x="859536" y="912388"/>
            <a:ext cx="6800971" cy="932688"/>
          </a:xfrm>
        </p:spPr>
        <p:txBody>
          <a:bodyPr anchor="b"/>
          <a:lstStyle>
            <a:lvl1pPr>
              <a:defRPr sz="44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5F8572EB-0F19-5157-1262-D70FB246A99A}"/>
              </a:ext>
            </a:extLst>
          </p:cNvPr>
          <p:cNvSpPr>
            <a:spLocks noGrp="1"/>
          </p:cNvSpPr>
          <p:nvPr>
            <p:ph sz="quarter" idx="14"/>
          </p:nvPr>
        </p:nvSpPr>
        <p:spPr>
          <a:xfrm>
            <a:off x="85953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1B842C4E-40FF-AB86-90DD-9230239CDAA9}"/>
              </a:ext>
            </a:extLst>
          </p:cNvPr>
          <p:cNvSpPr>
            <a:spLocks noGrp="1"/>
          </p:cNvSpPr>
          <p:nvPr>
            <p:ph type="pic" sz="quarter" idx="13"/>
          </p:nvPr>
        </p:nvSpPr>
        <p:spPr>
          <a:xfrm>
            <a:off x="8091732" y="333756"/>
            <a:ext cx="3742128" cy="6190488"/>
          </a:xfrm>
          <a:custGeom>
            <a:avLst/>
            <a:gdLst>
              <a:gd name="connsiteX0" fmla="*/ 0 w 3742128"/>
              <a:gd name="connsiteY0" fmla="*/ 0 h 6190488"/>
              <a:gd name="connsiteX1" fmla="*/ 3555485 w 3742128"/>
              <a:gd name="connsiteY1" fmla="*/ 0 h 6190488"/>
              <a:gd name="connsiteX2" fmla="*/ 3742128 w 3742128"/>
              <a:gd name="connsiteY2" fmla="*/ 186643 h 6190488"/>
              <a:gd name="connsiteX3" fmla="*/ 3742128 w 3742128"/>
              <a:gd name="connsiteY3" fmla="*/ 6003845 h 6190488"/>
              <a:gd name="connsiteX4" fmla="*/ 3555485 w 3742128"/>
              <a:gd name="connsiteY4" fmla="*/ 6190488 h 6190488"/>
              <a:gd name="connsiteX5" fmla="*/ 0 w 3742128"/>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128" h="6190488">
                <a:moveTo>
                  <a:pt x="0" y="0"/>
                </a:moveTo>
                <a:lnTo>
                  <a:pt x="3555485" y="0"/>
                </a:lnTo>
                <a:cubicBezTo>
                  <a:pt x="3658565" y="0"/>
                  <a:pt x="3742128" y="83563"/>
                  <a:pt x="3742128" y="186643"/>
                </a:cubicBezTo>
                <a:lnTo>
                  <a:pt x="3742128" y="6003845"/>
                </a:lnTo>
                <a:cubicBezTo>
                  <a:pt x="3742128" y="6106925"/>
                  <a:pt x="3658565" y="6190488"/>
                  <a:pt x="3555485"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47132" y="6529916"/>
            <a:ext cx="3284341" cy="328084"/>
          </a:xfrm>
          <a:prstGeom prst="rect">
            <a:avLst/>
          </a:prstGeom>
        </p:spPr>
        <p:txBody>
          <a:bodyPr/>
          <a:lstStyle/>
          <a:p>
            <a:fld id="{DCAE8F83-67FA-404A-B769-CAB4959C0FA7}" type="datetime1">
              <a:rPr lang="en-US" smtClean="0"/>
              <a:t>3/5/2026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635E0701-D961-E590-72A4-CFE60A942FB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45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5B410A-8F1F-C41B-C2EA-3ADD36BB7D5B}"/>
              </a:ext>
            </a:extLst>
          </p:cNvPr>
          <p:cNvSpPr>
            <a:spLocks noGrp="1"/>
          </p:cNvSpPr>
          <p:nvPr>
            <p:ph type="title"/>
          </p:nvPr>
        </p:nvSpPr>
        <p:spPr>
          <a:xfrm>
            <a:off x="7053972" y="907302"/>
            <a:ext cx="4361688" cy="1386965"/>
          </a:xfrm>
        </p:spPr>
        <p:txBody>
          <a:bodyPr anchor="t"/>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3675BA77-EBBB-9336-6E26-E6A278DEC64C}"/>
              </a:ext>
            </a:extLst>
          </p:cNvPr>
          <p:cNvSpPr>
            <a:spLocks noGrp="1"/>
          </p:cNvSpPr>
          <p:nvPr>
            <p:ph type="pic" sz="quarter" idx="13"/>
          </p:nvPr>
        </p:nvSpPr>
        <p:spPr>
          <a:xfrm>
            <a:off x="358140" y="333756"/>
            <a:ext cx="6253369" cy="6190488"/>
          </a:xfrm>
          <a:custGeom>
            <a:avLst/>
            <a:gdLst>
              <a:gd name="connsiteX0" fmla="*/ 186643 w 6253369"/>
              <a:gd name="connsiteY0" fmla="*/ 0 h 6190488"/>
              <a:gd name="connsiteX1" fmla="*/ 6253369 w 6253369"/>
              <a:gd name="connsiteY1" fmla="*/ 0 h 6190488"/>
              <a:gd name="connsiteX2" fmla="*/ 6253369 w 6253369"/>
              <a:gd name="connsiteY2" fmla="*/ 6190488 h 6190488"/>
              <a:gd name="connsiteX3" fmla="*/ 186643 w 6253369"/>
              <a:gd name="connsiteY3" fmla="*/ 6190488 h 6190488"/>
              <a:gd name="connsiteX4" fmla="*/ 0 w 6253369"/>
              <a:gd name="connsiteY4" fmla="*/ 6003845 h 6190488"/>
              <a:gd name="connsiteX5" fmla="*/ 0 w 6253369"/>
              <a:gd name="connsiteY5" fmla="*/ 186643 h 6190488"/>
              <a:gd name="connsiteX6" fmla="*/ 186643 w 6253369"/>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369" h="6190488">
                <a:moveTo>
                  <a:pt x="186643" y="0"/>
                </a:moveTo>
                <a:lnTo>
                  <a:pt x="6253369" y="0"/>
                </a:lnTo>
                <a:lnTo>
                  <a:pt x="6253369"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9" name="Content Placeholder 7">
            <a:extLst>
              <a:ext uri="{FF2B5EF4-FFF2-40B4-BE49-F238E27FC236}">
                <a16:creationId xmlns:a16="http://schemas.microsoft.com/office/drawing/2014/main" id="{CFD057C1-E5F9-48C1-C100-98561B816AC5}"/>
              </a:ext>
            </a:extLst>
          </p:cNvPr>
          <p:cNvSpPr>
            <a:spLocks noGrp="1"/>
          </p:cNvSpPr>
          <p:nvPr>
            <p:ph sz="quarter" idx="14"/>
          </p:nvPr>
        </p:nvSpPr>
        <p:spPr>
          <a:xfrm>
            <a:off x="7053972"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EA9C6C39-F32F-7B92-4B04-DE603E8CAB22}"/>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11419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6C6B2973-B39B-795B-C998-BD99945AC58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223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06E528-2C9F-FF0A-C704-D5311E88B5CA}"/>
              </a:ext>
            </a:extLst>
          </p:cNvPr>
          <p:cNvSpPr>
            <a:spLocks noGrp="1"/>
          </p:cNvSpPr>
          <p:nvPr>
            <p:ph type="title"/>
          </p:nvPr>
        </p:nvSpPr>
        <p:spPr>
          <a:xfrm>
            <a:off x="6882554" y="905256"/>
            <a:ext cx="4572000" cy="932688"/>
          </a:xfrm>
        </p:spPr>
        <p:txBody>
          <a:bodyPr anchor="b"/>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98AE6960-1685-F3C4-C297-F7D9C123BDA2}"/>
              </a:ext>
            </a:extLst>
          </p:cNvPr>
          <p:cNvSpPr>
            <a:spLocks noGrp="1"/>
          </p:cNvSpPr>
          <p:nvPr>
            <p:ph type="pic" sz="quarter" idx="13"/>
          </p:nvPr>
        </p:nvSpPr>
        <p:spPr>
          <a:xfrm>
            <a:off x="358956" y="338328"/>
            <a:ext cx="6129344" cy="6181344"/>
          </a:xfrm>
          <a:custGeom>
            <a:avLst/>
            <a:gdLst>
              <a:gd name="connsiteX0" fmla="*/ 186368 w 6129344"/>
              <a:gd name="connsiteY0" fmla="*/ 0 h 6181344"/>
              <a:gd name="connsiteX1" fmla="*/ 6129344 w 6129344"/>
              <a:gd name="connsiteY1" fmla="*/ 0 h 6181344"/>
              <a:gd name="connsiteX2" fmla="*/ 6129344 w 6129344"/>
              <a:gd name="connsiteY2" fmla="*/ 6181344 h 6181344"/>
              <a:gd name="connsiteX3" fmla="*/ 186368 w 6129344"/>
              <a:gd name="connsiteY3" fmla="*/ 6181344 h 6181344"/>
              <a:gd name="connsiteX4" fmla="*/ 0 w 6129344"/>
              <a:gd name="connsiteY4" fmla="*/ 5994976 h 6181344"/>
              <a:gd name="connsiteX5" fmla="*/ 0 w 6129344"/>
              <a:gd name="connsiteY5" fmla="*/ 186368 h 6181344"/>
              <a:gd name="connsiteX6" fmla="*/ 186368 w 6129344"/>
              <a:gd name="connsiteY6" fmla="*/ 0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44" h="6181344">
                <a:moveTo>
                  <a:pt x="186368" y="0"/>
                </a:moveTo>
                <a:lnTo>
                  <a:pt x="6129344" y="0"/>
                </a:lnTo>
                <a:lnTo>
                  <a:pt x="6129344" y="6181344"/>
                </a:lnTo>
                <a:lnTo>
                  <a:pt x="186368" y="6181344"/>
                </a:lnTo>
                <a:cubicBezTo>
                  <a:pt x="83440" y="6181344"/>
                  <a:pt x="0" y="6097904"/>
                  <a:pt x="0" y="5994976"/>
                </a:cubicBezTo>
                <a:lnTo>
                  <a:pt x="0" y="186368"/>
                </a:lnTo>
                <a:cubicBezTo>
                  <a:pt x="0" y="83440"/>
                  <a:pt x="83440" y="0"/>
                  <a:pt x="186368"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10" name="Content Placeholder 7">
            <a:extLst>
              <a:ext uri="{FF2B5EF4-FFF2-40B4-BE49-F238E27FC236}">
                <a16:creationId xmlns:a16="http://schemas.microsoft.com/office/drawing/2014/main" id="{F131C32E-547E-EA2F-5C03-0FE106459545}"/>
              </a:ext>
            </a:extLst>
          </p:cNvPr>
          <p:cNvSpPr>
            <a:spLocks noGrp="1"/>
          </p:cNvSpPr>
          <p:nvPr>
            <p:ph sz="quarter" idx="14"/>
          </p:nvPr>
        </p:nvSpPr>
        <p:spPr>
          <a:xfrm>
            <a:off x="6882554"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529916"/>
            <a:ext cx="1772029" cy="328084"/>
          </a:xfrm>
          <a:prstGeom prst="rect">
            <a:avLst/>
          </a:prstGeom>
        </p:spPr>
        <p:txBody>
          <a:bodyPr/>
          <a:lstStyle>
            <a:lvl1pPr>
              <a:defRPr>
                <a:solidFill>
                  <a:schemeClr val="tx1"/>
                </a:solidFill>
                <a:effectLst/>
              </a:defRPr>
            </a:lvl1pPr>
          </a:lstStyle>
          <a:p>
            <a:fld id="{9DA120D7-D319-4C08-8AC1-3F29C25825B5}"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3BBCC467-E248-3764-B263-C14CD99457D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232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4572000"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4E3331A2-CF3B-E998-CF70-4A75C30A9245}"/>
              </a:ext>
            </a:extLst>
          </p:cNvPr>
          <p:cNvSpPr>
            <a:spLocks noGrp="1"/>
          </p:cNvSpPr>
          <p:nvPr>
            <p:ph type="pic" sz="quarter" idx="13"/>
          </p:nvPr>
        </p:nvSpPr>
        <p:spPr>
          <a:xfrm>
            <a:off x="5917720" y="333756"/>
            <a:ext cx="5916140" cy="6190488"/>
          </a:xfrm>
          <a:custGeom>
            <a:avLst/>
            <a:gdLst>
              <a:gd name="connsiteX0" fmla="*/ 0 w 5916140"/>
              <a:gd name="connsiteY0" fmla="*/ 0 h 6190488"/>
              <a:gd name="connsiteX1" fmla="*/ 5729497 w 5916140"/>
              <a:gd name="connsiteY1" fmla="*/ 0 h 6190488"/>
              <a:gd name="connsiteX2" fmla="*/ 5916140 w 5916140"/>
              <a:gd name="connsiteY2" fmla="*/ 186643 h 6190488"/>
              <a:gd name="connsiteX3" fmla="*/ 5916140 w 5916140"/>
              <a:gd name="connsiteY3" fmla="*/ 6003845 h 6190488"/>
              <a:gd name="connsiteX4" fmla="*/ 5729497 w 5916140"/>
              <a:gd name="connsiteY4" fmla="*/ 6190488 h 6190488"/>
              <a:gd name="connsiteX5" fmla="*/ 0 w 591614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16140" h="6190488">
                <a:moveTo>
                  <a:pt x="0" y="0"/>
                </a:moveTo>
                <a:lnTo>
                  <a:pt x="5729497" y="0"/>
                </a:lnTo>
                <a:cubicBezTo>
                  <a:pt x="5832577" y="0"/>
                  <a:pt x="5916140" y="83563"/>
                  <a:pt x="5916140" y="186643"/>
                </a:cubicBezTo>
                <a:lnTo>
                  <a:pt x="5916140" y="6003845"/>
                </a:lnTo>
                <a:cubicBezTo>
                  <a:pt x="5916140" y="6106925"/>
                  <a:pt x="5832577" y="6190488"/>
                  <a:pt x="572949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2031073" cy="328084"/>
          </a:xfrm>
          <a:prstGeom prst="rect">
            <a:avLst/>
          </a:prstGeom>
        </p:spPr>
        <p:txBody>
          <a:bodyPr/>
          <a:lstStyle/>
          <a:p>
            <a:fld id="{EBEC7127-1401-4DC9-A2BE-769D7BC81B47}"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441A81A3-09AD-4886-CA58-1C5308FB34ED}"/>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1394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03044" y="907299"/>
            <a:ext cx="3222923" cy="1203162"/>
          </a:xfrm>
        </p:spPr>
        <p:txBody>
          <a:bodyPr anchor="b">
            <a:normAutofit/>
          </a:bodyPr>
          <a:lstStyle>
            <a:lvl1pPr>
              <a:defRPr sz="3200"/>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26FC952-7E45-FC54-E540-F375172C0E20}"/>
              </a:ext>
            </a:extLst>
          </p:cNvPr>
          <p:cNvSpPr>
            <a:spLocks noGrp="1"/>
          </p:cNvSpPr>
          <p:nvPr>
            <p:ph type="pic" sz="quarter" idx="13"/>
          </p:nvPr>
        </p:nvSpPr>
        <p:spPr>
          <a:xfrm>
            <a:off x="358140" y="333756"/>
            <a:ext cx="7226004" cy="6190488"/>
          </a:xfrm>
          <a:custGeom>
            <a:avLst/>
            <a:gdLst>
              <a:gd name="connsiteX0" fmla="*/ 186643 w 7226004"/>
              <a:gd name="connsiteY0" fmla="*/ 0 h 6190488"/>
              <a:gd name="connsiteX1" fmla="*/ 7226004 w 7226004"/>
              <a:gd name="connsiteY1" fmla="*/ 0 h 6190488"/>
              <a:gd name="connsiteX2" fmla="*/ 7226004 w 7226004"/>
              <a:gd name="connsiteY2" fmla="*/ 6190488 h 6190488"/>
              <a:gd name="connsiteX3" fmla="*/ 186643 w 7226004"/>
              <a:gd name="connsiteY3" fmla="*/ 6190488 h 6190488"/>
              <a:gd name="connsiteX4" fmla="*/ 0 w 7226004"/>
              <a:gd name="connsiteY4" fmla="*/ 6003845 h 6190488"/>
              <a:gd name="connsiteX5" fmla="*/ 0 w 7226004"/>
              <a:gd name="connsiteY5" fmla="*/ 186643 h 6190488"/>
              <a:gd name="connsiteX6" fmla="*/ 186643 w 7226004"/>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004" h="6190488">
                <a:moveTo>
                  <a:pt x="186643" y="0"/>
                </a:moveTo>
                <a:lnTo>
                  <a:pt x="7226004" y="0"/>
                </a:lnTo>
                <a:lnTo>
                  <a:pt x="7226004"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03044" y="2240265"/>
            <a:ext cx="3222923" cy="371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03044" y="6529915"/>
            <a:ext cx="922372" cy="328084"/>
          </a:xfrm>
          <a:prstGeom prst="rect">
            <a:avLst/>
          </a:prstGeom>
        </p:spPr>
        <p:txBody>
          <a:bodyPr/>
          <a:lstStyle/>
          <a:p>
            <a:fld id="{16B7840A-2968-4A25-82F8-DF7BABF97BC1}" type="datetime1">
              <a:rPr lang="en-US" smtClean="0"/>
              <a:t>3/5/2026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025417" y="6529915"/>
            <a:ext cx="2390244"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DCB9005A-8E92-C720-BABE-52545C043BA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3472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299"/>
            <a:ext cx="3351329" cy="1203161"/>
          </a:xfrm>
        </p:spPr>
        <p:txBody>
          <a:bodyPr anchor="b">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244789"/>
            <a:ext cx="3351329" cy="3705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93031C5B-201F-65FC-977A-E04E980A8D1F}"/>
              </a:ext>
            </a:extLst>
          </p:cNvPr>
          <p:cNvSpPr>
            <a:spLocks noGrp="1"/>
          </p:cNvSpPr>
          <p:nvPr>
            <p:ph type="pic" sz="quarter" idx="13"/>
          </p:nvPr>
        </p:nvSpPr>
        <p:spPr>
          <a:xfrm>
            <a:off x="4761780" y="333756"/>
            <a:ext cx="7072080" cy="6190488"/>
          </a:xfrm>
          <a:custGeom>
            <a:avLst/>
            <a:gdLst>
              <a:gd name="connsiteX0" fmla="*/ 0 w 7072080"/>
              <a:gd name="connsiteY0" fmla="*/ 0 h 6190488"/>
              <a:gd name="connsiteX1" fmla="*/ 6885437 w 7072080"/>
              <a:gd name="connsiteY1" fmla="*/ 0 h 6190488"/>
              <a:gd name="connsiteX2" fmla="*/ 7072080 w 7072080"/>
              <a:gd name="connsiteY2" fmla="*/ 186643 h 6190488"/>
              <a:gd name="connsiteX3" fmla="*/ 7072080 w 7072080"/>
              <a:gd name="connsiteY3" fmla="*/ 6003845 h 6190488"/>
              <a:gd name="connsiteX4" fmla="*/ 6885437 w 7072080"/>
              <a:gd name="connsiteY4" fmla="*/ 6190488 h 6190488"/>
              <a:gd name="connsiteX5" fmla="*/ 0 w 707208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2080" h="6190488">
                <a:moveTo>
                  <a:pt x="0" y="0"/>
                </a:moveTo>
                <a:lnTo>
                  <a:pt x="6885437" y="0"/>
                </a:lnTo>
                <a:cubicBezTo>
                  <a:pt x="6988517" y="0"/>
                  <a:pt x="7072080" y="83563"/>
                  <a:pt x="7072080" y="186643"/>
                </a:cubicBezTo>
                <a:lnTo>
                  <a:pt x="7072080" y="6003845"/>
                </a:lnTo>
                <a:cubicBezTo>
                  <a:pt x="7072080" y="6106925"/>
                  <a:pt x="6988517" y="6190488"/>
                  <a:pt x="688543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1067625" cy="328084"/>
          </a:xfrm>
          <a:prstGeom prst="rect">
            <a:avLst/>
          </a:prstGeom>
        </p:spPr>
        <p:txBody>
          <a:bodyPr/>
          <a:lstStyle/>
          <a:p>
            <a:fld id="{E2ABEC49-741E-472F-866C-AE933A56DB01}"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75A9B769-FEAE-2962-E26F-2A44DC7B32A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36238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00265" y="907300"/>
            <a:ext cx="3025702" cy="2114466"/>
          </a:xfrm>
        </p:spPr>
        <p:txBody>
          <a:bodyPr anchor="b"/>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D58BC462-E794-03C0-9112-F7F3BCEED143}"/>
              </a:ext>
            </a:extLst>
          </p:cNvPr>
          <p:cNvSpPr>
            <a:spLocks noGrp="1"/>
          </p:cNvSpPr>
          <p:nvPr>
            <p:ph type="pic" sz="quarter" idx="13"/>
          </p:nvPr>
        </p:nvSpPr>
        <p:spPr>
          <a:xfrm>
            <a:off x="358140" y="333756"/>
            <a:ext cx="7423225" cy="6190488"/>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00265" y="3156095"/>
            <a:ext cx="3025702" cy="27945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529915"/>
            <a:ext cx="1003659" cy="328084"/>
          </a:xfrm>
          <a:prstGeom prst="rect">
            <a:avLst/>
          </a:prstGeom>
        </p:spPr>
        <p:txBody>
          <a:bodyPr/>
          <a:lstStyle>
            <a:lvl1pPr>
              <a:defRPr>
                <a:solidFill>
                  <a:schemeClr val="tx1"/>
                </a:solidFill>
                <a:effectLst/>
              </a:defRPr>
            </a:lvl1pPr>
          </a:lstStyle>
          <a:p>
            <a:fld id="{CB6BE5AC-BF33-4FE2-ADBE-F1A4AA52AA84}"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529915"/>
            <a:ext cx="2068899"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4" name="Rectangle: Rounded Corners 3">
            <a:extLst>
              <a:ext uri="{FF2B5EF4-FFF2-40B4-BE49-F238E27FC236}">
                <a16:creationId xmlns:a16="http://schemas.microsoft.com/office/drawing/2014/main" id="{B3CB8547-3131-E62F-78BD-1E2AB8979C91}"/>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8644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851A88DF-44ED-436B-99D1-0B8CC5A92D9A}"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06465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BEC9FA1C-AA60-4CCE-B788-3849E413B634}"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fld id="{401AF4C7-240F-4AB8-A2FA-D99DF3F7CE1C}"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dirty="0"/>
              <a:t>Click icon to add picture</a:t>
            </a:r>
          </a:p>
        </p:txBody>
      </p:sp>
    </p:spTree>
    <p:extLst>
      <p:ext uri="{BB962C8B-B14F-4D97-AF65-F5344CB8AC3E}">
        <p14:creationId xmlns:p14="http://schemas.microsoft.com/office/powerpoint/2010/main" val="2525664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707AF85-94F0-A688-031E-5C9B12E7DA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6" y="1810322"/>
            <a:ext cx="4547183" cy="4444173"/>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0FEB7308-4C28-B462-9DD9-8D821D48BBBA}"/>
              </a:ext>
            </a:extLst>
          </p:cNvPr>
          <p:cNvSpPr>
            <a:spLocks noGrp="1"/>
          </p:cNvSpPr>
          <p:nvPr>
            <p:ph type="pic" sz="quarter" idx="16"/>
          </p:nvPr>
        </p:nvSpPr>
        <p:spPr>
          <a:xfrm>
            <a:off x="898331" y="2044501"/>
            <a:ext cx="3975817" cy="3975817"/>
          </a:xfrm>
          <a:custGeom>
            <a:avLst/>
            <a:gdLst>
              <a:gd name="connsiteX0" fmla="*/ 1987909 w 3975817"/>
              <a:gd name="connsiteY0" fmla="*/ 0 h 3975817"/>
              <a:gd name="connsiteX1" fmla="*/ 3975817 w 3975817"/>
              <a:gd name="connsiteY1" fmla="*/ 1987909 h 3975817"/>
              <a:gd name="connsiteX2" fmla="*/ 1987909 w 3975817"/>
              <a:gd name="connsiteY2" fmla="*/ 3975817 h 3975817"/>
              <a:gd name="connsiteX3" fmla="*/ 0 w 3975817"/>
              <a:gd name="connsiteY3" fmla="*/ 1987909 h 3975817"/>
              <a:gd name="connsiteX4" fmla="*/ 1987909 w 3975817"/>
              <a:gd name="connsiteY4" fmla="*/ 0 h 397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817" h="3975817">
                <a:moveTo>
                  <a:pt x="1987909" y="0"/>
                </a:moveTo>
                <a:cubicBezTo>
                  <a:pt x="3085800" y="0"/>
                  <a:pt x="3975817" y="890017"/>
                  <a:pt x="3975817" y="1987909"/>
                </a:cubicBezTo>
                <a:cubicBezTo>
                  <a:pt x="3975817" y="3085800"/>
                  <a:pt x="3085800" y="3975817"/>
                  <a:pt x="1987909" y="3975817"/>
                </a:cubicBezTo>
                <a:cubicBezTo>
                  <a:pt x="890017" y="3975817"/>
                  <a:pt x="0" y="3085800"/>
                  <a:pt x="0" y="1987909"/>
                </a:cubicBezTo>
                <a:cubicBezTo>
                  <a:pt x="0" y="890017"/>
                  <a:pt x="890017" y="0"/>
                  <a:pt x="1987909"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96000" y="1828800"/>
            <a:ext cx="5483355"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387AD299-DE61-4CBB-BC93-03EDAFFAD605}"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7120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BFD4E-5044-9769-5E8F-5BEC1C2A21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8" y="2271376"/>
            <a:ext cx="4155294" cy="40611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D4DA44E7-3265-78D1-59E3-AEFDF6112DD6}"/>
              </a:ext>
            </a:extLst>
          </p:cNvPr>
          <p:cNvSpPr>
            <a:spLocks noGrp="1"/>
          </p:cNvSpPr>
          <p:nvPr>
            <p:ph type="pic" sz="quarter" idx="16"/>
          </p:nvPr>
        </p:nvSpPr>
        <p:spPr>
          <a:xfrm>
            <a:off x="873710" y="2485372"/>
            <a:ext cx="3633170" cy="3633170"/>
          </a:xfrm>
          <a:custGeom>
            <a:avLst/>
            <a:gdLst>
              <a:gd name="connsiteX0" fmla="*/ 1816585 w 3633170"/>
              <a:gd name="connsiteY0" fmla="*/ 0 h 3633170"/>
              <a:gd name="connsiteX1" fmla="*/ 3633170 w 3633170"/>
              <a:gd name="connsiteY1" fmla="*/ 1816585 h 3633170"/>
              <a:gd name="connsiteX2" fmla="*/ 1816585 w 3633170"/>
              <a:gd name="connsiteY2" fmla="*/ 3633170 h 3633170"/>
              <a:gd name="connsiteX3" fmla="*/ 0 w 3633170"/>
              <a:gd name="connsiteY3" fmla="*/ 1816585 h 3633170"/>
              <a:gd name="connsiteX4" fmla="*/ 1816585 w 3633170"/>
              <a:gd name="connsiteY4" fmla="*/ 0 h 3633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3170" h="3633170">
                <a:moveTo>
                  <a:pt x="1816585" y="0"/>
                </a:moveTo>
                <a:cubicBezTo>
                  <a:pt x="2819857" y="0"/>
                  <a:pt x="3633170" y="813313"/>
                  <a:pt x="3633170" y="1816585"/>
                </a:cubicBezTo>
                <a:cubicBezTo>
                  <a:pt x="3633170" y="2819857"/>
                  <a:pt x="2819857" y="3633170"/>
                  <a:pt x="1816585" y="3633170"/>
                </a:cubicBezTo>
                <a:cubicBezTo>
                  <a:pt x="813313" y="3633170"/>
                  <a:pt x="0" y="2819857"/>
                  <a:pt x="0" y="1816585"/>
                </a:cubicBezTo>
                <a:cubicBezTo>
                  <a:pt x="0" y="813313"/>
                  <a:pt x="813313" y="0"/>
                  <a:pt x="1816585"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FB9632C8-AF7D-4924-8414-5F0F98946906}"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6829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50B4B-78CB-E542-02D9-864CE61BF8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7715" y="2311121"/>
            <a:ext cx="4085820" cy="39932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AA5E0D2B-AF9D-6520-DEF7-6EF60AC4660E}"/>
              </a:ext>
            </a:extLst>
          </p:cNvPr>
          <p:cNvSpPr>
            <a:spLocks noGrp="1"/>
          </p:cNvSpPr>
          <p:nvPr>
            <p:ph type="pic" sz="quarter" idx="16"/>
          </p:nvPr>
        </p:nvSpPr>
        <p:spPr>
          <a:xfrm>
            <a:off x="694412" y="2521539"/>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CB60CA09-D196-4E75-A4BA-F561F149C1FC}"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26141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5626D2-80B1-31C0-8C4C-03AEBF6B45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35066" y="2105276"/>
            <a:ext cx="4085820" cy="3993262"/>
          </a:xfrm>
          <a:prstGeom prst="rect">
            <a:avLst/>
          </a:prstGeom>
        </p:spPr>
      </p:pic>
      <p:sp>
        <p:nvSpPr>
          <p:cNvPr id="17" name="Title 1">
            <a:extLst>
              <a:ext uri="{FF2B5EF4-FFF2-40B4-BE49-F238E27FC236}">
                <a16:creationId xmlns:a16="http://schemas.microsoft.com/office/drawing/2014/main" id="{FB8AD6A1-C215-DFF8-ECFA-D092D628B627}"/>
              </a:ext>
            </a:extLst>
          </p:cNvPr>
          <p:cNvSpPr>
            <a:spLocks noGrp="1"/>
          </p:cNvSpPr>
          <p:nvPr>
            <p:ph type="title"/>
          </p:nvPr>
        </p:nvSpPr>
        <p:spPr>
          <a:xfrm>
            <a:off x="612647" y="907303"/>
            <a:ext cx="10966706" cy="1132258"/>
          </a:xfrm>
        </p:spPr>
        <p:txBody>
          <a:bodyPr/>
          <a:lstStyle>
            <a:lvl1pPr>
              <a:defRPr>
                <a:latin typeface="+mj-lt"/>
              </a:defRPr>
            </a:lvl1pPr>
          </a:lstStyle>
          <a:p>
            <a:r>
              <a:rPr lang="en-US" dirty="0"/>
              <a:t>Click to edit Master title style</a:t>
            </a:r>
          </a:p>
        </p:txBody>
      </p:sp>
      <p:sp>
        <p:nvSpPr>
          <p:cNvPr id="15" name="Text Placeholder 3">
            <a:extLst>
              <a:ext uri="{FF2B5EF4-FFF2-40B4-BE49-F238E27FC236}">
                <a16:creationId xmlns:a16="http://schemas.microsoft.com/office/drawing/2014/main" id="{2F6745D6-F853-FF75-28EF-2DD864956FC7}"/>
              </a:ext>
            </a:extLst>
          </p:cNvPr>
          <p:cNvSpPr>
            <a:spLocks noGrp="1"/>
          </p:cNvSpPr>
          <p:nvPr>
            <p:ph type="body" sz="half" idx="2"/>
          </p:nvPr>
        </p:nvSpPr>
        <p:spPr>
          <a:xfrm>
            <a:off x="612647" y="2311121"/>
            <a:ext cx="6158266" cy="3993262"/>
          </a:xfrm>
        </p:spPr>
        <p:txBody>
          <a:bodyPr anchor="t">
            <a:normAutofit/>
          </a:bodyPr>
          <a:lstStyle>
            <a:lvl1pPr marL="0" indent="0">
              <a:buNone/>
              <a:defRPr sz="14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D366C839-A25F-2CB3-40B9-811BB4C75134}"/>
              </a:ext>
            </a:extLst>
          </p:cNvPr>
          <p:cNvSpPr>
            <a:spLocks noGrp="1"/>
          </p:cNvSpPr>
          <p:nvPr>
            <p:ph type="pic" sz="quarter" idx="15"/>
          </p:nvPr>
        </p:nvSpPr>
        <p:spPr>
          <a:xfrm>
            <a:off x="7591763" y="2315694"/>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E44CA941-2112-4108-B577-DDB22688A338}"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5137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3/5/2026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921128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967907A-96CA-89D9-9FD8-C85BFFEAF6EB}"/>
              </a:ext>
            </a:extLst>
          </p:cNvPr>
          <p:cNvSpPr>
            <a:spLocks noGrp="1"/>
          </p:cNvSpPr>
          <p:nvPr>
            <p:ph type="title"/>
          </p:nvPr>
        </p:nvSpPr>
        <p:spPr>
          <a:xfrm>
            <a:off x="860316" y="4421770"/>
            <a:ext cx="10499656" cy="1528927"/>
          </a:xfrm>
        </p:spPr>
        <p:txBody>
          <a:bodyPr>
            <a:normAutofit/>
          </a:bodyPr>
          <a:lstStyle>
            <a:lvl1pPr algn="l">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824A94E6-CFC2-45CB-1F4E-C00A6DA2F700}"/>
              </a:ext>
            </a:extLst>
          </p:cNvPr>
          <p:cNvSpPr>
            <a:spLocks noGrp="1"/>
          </p:cNvSpPr>
          <p:nvPr>
            <p:ph sz="quarter" idx="13" hasCustomPrompt="1"/>
          </p:nvPr>
        </p:nvSpPr>
        <p:spPr>
          <a:xfrm>
            <a:off x="866336" y="1330310"/>
            <a:ext cx="10499656" cy="3273331"/>
          </a:xfrm>
        </p:spPr>
        <p:txBody>
          <a:bodyPr anchor="b">
            <a:normAutofit/>
          </a:bodyPr>
          <a:lstStyle>
            <a:lvl1pPr marL="0" indent="0" algn="l">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C3619648-D57F-48C1-8026-D656192BFCE5}" type="datetime1">
              <a:rPr lang="en-US" smtClean="0"/>
              <a:t>3/5/2026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9" name="Rectangle: Rounded Corners 8">
            <a:extLst>
              <a:ext uri="{FF2B5EF4-FFF2-40B4-BE49-F238E27FC236}">
                <a16:creationId xmlns:a16="http://schemas.microsoft.com/office/drawing/2014/main" id="{FA1F52FC-EB68-58F2-85B1-6235B55362A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78387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04120"/>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D7688EBA-E81D-4EC6-8C2B-03A401A980DE}" type="datetime1">
              <a:rPr lang="en-US" smtClean="0"/>
              <a:t>3/5/2026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7ACAAB8A-DD1F-F240-8651-22FAC159B42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76681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3/5/2026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A42EF41C-4509-4150-C0F1-83BB756ACF5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972452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dirty="0"/>
              <a:t>Click to add Statement</a:t>
            </a:r>
          </a:p>
          <a:p>
            <a:pPr lvl="1"/>
            <a:r>
              <a:rPr lang="en-US" dirty="0"/>
              <a:t>Second level</a:t>
            </a:r>
          </a:p>
          <a:p>
            <a:pPr lvl="2"/>
            <a:r>
              <a:rPr lang="en-US" dirty="0"/>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3/5/2026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9" name="Rectangle: Rounded Corners 8">
            <a:extLst>
              <a:ext uri="{FF2B5EF4-FFF2-40B4-BE49-F238E27FC236}">
                <a16:creationId xmlns:a16="http://schemas.microsoft.com/office/drawing/2014/main" id="{244775AE-F67F-CB44-1D87-AB4D287818A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476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90F78A7-ED9B-4802-8C3B-8810C7632A95}" type="datetime1">
              <a:rPr lang="en-US" smtClean="0"/>
              <a:t>3/5/2026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734D2A7D-7433-3BD7-B540-CAF81289672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83692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4F266F9-F826-45A4-93B2-4F421185E715}" type="datetime1">
              <a:rPr lang="en-US" smtClean="0"/>
              <a:t>3/5/2026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0F6FAFB8-6136-DD3A-86C3-855ED940D6F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529681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34321655-180C-E5FF-5EBA-CB7C8C900534}"/>
              </a:ext>
            </a:extLst>
          </p:cNvPr>
          <p:cNvPicPr>
            <a:picLocks noChangeAspect="1"/>
          </p:cNvPicPr>
          <p:nvPr/>
        </p:nvPicPr>
        <p:blipFill>
          <a:blip r:embed="rId2">
            <a:extLst>
              <a:ext uri="{28A0092B-C50C-407E-A947-70E740481C1C}">
                <a14:useLocalDpi xmlns:a14="http://schemas.microsoft.com/office/drawing/2010/main" val="0"/>
              </a:ext>
            </a:extLst>
          </a:blip>
          <a:srcRect t="6267"/>
          <a:stretch/>
        </p:blipFill>
        <p:spPr>
          <a:xfrm>
            <a:off x="492638" y="0"/>
            <a:ext cx="4471248" cy="4191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3/5/2026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0659926F-2327-8B2D-085E-499F8F38779A}"/>
              </a:ext>
            </a:extLst>
          </p:cNvPr>
          <p:cNvCxnSpPr/>
          <p:nvPr/>
        </p:nvCxnSpPr>
        <p:spPr>
          <a:xfrm>
            <a:off x="1551214" y="3477986"/>
            <a:ext cx="0" cy="1992085"/>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99773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80000"/>
              </a:lnSpc>
              <a:spcBef>
                <a:spcPts val="0"/>
              </a:spcBef>
              <a:buNone/>
              <a:defRPr sz="40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A15AF2BE-7E3A-4323-8AD1-6D4FF44FD8E1}" type="datetime1">
              <a:rPr lang="en-US" smtClean="0"/>
              <a:t>3/5/2026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CF5A24BE-62EC-1D31-CC8C-91D6C09F822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897118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80000"/>
              </a:lnSpc>
              <a:spcBef>
                <a:spcPts val="0"/>
              </a:spcBef>
              <a:buNone/>
              <a:defRPr sz="42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CB8FD7DB-FD7D-41C7-A7D0-5BAC7B3F1054}" type="datetime1">
              <a:rPr lang="en-US" smtClean="0"/>
              <a:t>3/5/2026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0CC92CDB-3DCC-F547-8EEC-BE14157A425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3182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F63BBBA-62F7-DBEC-F9CF-7226CF22297D}"/>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70C6923B-FF9D-B437-5588-878AF0F8A070}"/>
              </a:ext>
            </a:extLst>
          </p:cNvPr>
          <p:cNvSpPr>
            <a:spLocks noGrp="1"/>
          </p:cNvSpPr>
          <p:nvPr>
            <p:ph type="body" sz="quarter" idx="13"/>
          </p:nvPr>
        </p:nvSpPr>
        <p:spPr>
          <a:xfrm>
            <a:off x="860892"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32312870-557C-564C-3520-F00CB9BF524F}"/>
              </a:ext>
            </a:extLst>
          </p:cNvPr>
          <p:cNvSpPr>
            <a:spLocks noGrp="1"/>
          </p:cNvSpPr>
          <p:nvPr>
            <p:ph type="body" sz="quarter" idx="15"/>
          </p:nvPr>
        </p:nvSpPr>
        <p:spPr>
          <a:xfrm>
            <a:off x="6285157"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7586B0B4-0F2D-499F-B46F-F681523A05A0}" type="datetime1">
              <a:rPr lang="en-US" smtClean="0"/>
              <a:t>3/5/2026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3" name="Rectangle: Rounded Corners 12">
            <a:extLst>
              <a:ext uri="{FF2B5EF4-FFF2-40B4-BE49-F238E27FC236}">
                <a16:creationId xmlns:a16="http://schemas.microsoft.com/office/drawing/2014/main" id="{FB15031E-7D6B-5DB2-0949-3226C3A6B5E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2690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4C7CB3-8309-EE97-00D8-73D90094F0D7}"/>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60893"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2">
            <a:extLst>
              <a:ext uri="{FF2B5EF4-FFF2-40B4-BE49-F238E27FC236}">
                <a16:creationId xmlns:a16="http://schemas.microsoft.com/office/drawing/2014/main" id="{8CF4B8FC-8114-F896-19E9-61BFDBF1E798}"/>
              </a:ext>
            </a:extLst>
          </p:cNvPr>
          <p:cNvSpPr>
            <a:spLocks noGrp="1"/>
          </p:cNvSpPr>
          <p:nvPr>
            <p:ph type="body" idx="14"/>
          </p:nvPr>
        </p:nvSpPr>
        <p:spPr>
          <a:xfrm>
            <a:off x="6285158"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60892"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a:extLst>
              <a:ext uri="{FF2B5EF4-FFF2-40B4-BE49-F238E27FC236}">
                <a16:creationId xmlns:a16="http://schemas.microsoft.com/office/drawing/2014/main" id="{BA05586D-8745-CB79-26DE-BB05CF6BF805}"/>
              </a:ext>
            </a:extLst>
          </p:cNvPr>
          <p:cNvSpPr>
            <a:spLocks noGrp="1"/>
          </p:cNvSpPr>
          <p:nvPr>
            <p:ph type="body" sz="quarter" idx="15"/>
          </p:nvPr>
        </p:nvSpPr>
        <p:spPr>
          <a:xfrm>
            <a:off x="6285157"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347132" y="6529916"/>
            <a:ext cx="3284341" cy="328084"/>
          </a:xfrm>
          <a:prstGeom prst="rect">
            <a:avLst/>
          </a:prstGeom>
        </p:spPr>
        <p:txBody>
          <a:bodyPr/>
          <a:lstStyle/>
          <a:p>
            <a:fld id="{01266551-E982-43FB-8EB6-73FB0E4FDF12}" type="datetime1">
              <a:rPr lang="en-US" smtClean="0"/>
              <a:t>3/5/2026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2" name="Rectangle: Rounded Corners 11">
            <a:extLst>
              <a:ext uri="{FF2B5EF4-FFF2-40B4-BE49-F238E27FC236}">
                <a16:creationId xmlns:a16="http://schemas.microsoft.com/office/drawing/2014/main" id="{E69FD757-76AB-74D2-BF21-512AF236806B}"/>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543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7CF8608-BD7F-FDF6-C9FE-359BAFBCCEDE}"/>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347132" y="6529916"/>
            <a:ext cx="3284341" cy="328084"/>
          </a:xfrm>
          <a:prstGeom prst="rect">
            <a:avLst/>
          </a:prstGeom>
        </p:spPr>
        <p:txBody>
          <a:bodyPr/>
          <a:lstStyle/>
          <a:p>
            <a:fld id="{6F57FA73-4BE2-4237-90E8-28123CE1B9FA}" type="datetime1">
              <a:rPr lang="en-US" smtClean="0"/>
              <a:t>3/5/2026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144ABFCC-D627-9493-2426-A6E5682EEBD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7819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3/5/2026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6069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347132" y="6529916"/>
            <a:ext cx="3284341" cy="328084"/>
          </a:xfrm>
          <a:prstGeom prst="rect">
            <a:avLst/>
          </a:prstGeom>
        </p:spPr>
        <p:txBody>
          <a:bodyPr/>
          <a:lstStyle/>
          <a:p>
            <a:fld id="{82EFC53A-E163-43E4-9309-C62B24E59229}" type="datetime1">
              <a:rPr lang="en-US" smtClean="0"/>
              <a:t>3/5/2026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8759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1847088"/>
            <a:ext cx="7342307" cy="1133856"/>
          </a:xfrm>
        </p:spPr>
        <p:txBody>
          <a:bodyPr anchor="b">
            <a:noAutofit/>
          </a:bodyPr>
          <a:lstStyle>
            <a:lvl1pPr>
              <a:defRPr sz="600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59536" y="3594099"/>
            <a:ext cx="104729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F57D2C4C-3CEB-4A3F-A850-2A701BAB5B4F}" type="datetime1">
              <a:rPr lang="en-US" smtClean="0"/>
              <a:t>3/5/2026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60F630EC-9C35-9636-5C2F-9B305B2CCE3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384798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3/5/2026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BB055BD5-F132-7EB0-787E-04988310DC8B}"/>
              </a:ext>
            </a:extLst>
          </p:cNvPr>
          <p:cNvCxnSpPr>
            <a:cxnSpLocks/>
          </p:cNvCxnSpPr>
          <p:nvPr/>
        </p:nvCxnSpPr>
        <p:spPr>
          <a:xfrm>
            <a:off x="4985657" y="5238749"/>
            <a:ext cx="0" cy="8827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dirty="0"/>
              <a:t>Click to edit Master </a:t>
            </a:r>
            <a:br>
              <a:rPr lang="en-US" dirty="0"/>
            </a:br>
            <a:r>
              <a:rPr lang="en-US" dirty="0"/>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3/5/2026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77" r:id="rId37"/>
    <p:sldLayoutId id="2147483863" r:id="rId38"/>
    <p:sldLayoutId id="2147483864" r:id="rId39"/>
    <p:sldLayoutId id="2147483865" r:id="rId40"/>
    <p:sldLayoutId id="2147483866" r:id="rId41"/>
    <p:sldLayoutId id="2147483867" r:id="rId42"/>
    <p:sldLayoutId id="2147483868" r:id="rId43"/>
    <p:sldLayoutId id="2147483869" r:id="rId44"/>
    <p:sldLayoutId id="2147483870" r:id="rId45"/>
    <p:sldLayoutId id="2147483871" r:id="rId46"/>
    <p:sldLayoutId id="2147483872" r:id="rId47"/>
    <p:sldLayoutId id="2147483873" r:id="rId48"/>
    <p:sldLayoutId id="2147483874" r:id="rId49"/>
    <p:sldLayoutId id="2147483875" r:id="rId50"/>
    <p:sldLayoutId id="2147483876" r:id="rId51"/>
    <p:sldLayoutId id="2147483878" r:id="rId52"/>
    <p:sldLayoutId id="2147483879" r:id="rId53"/>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1462491" y="1902218"/>
            <a:ext cx="7612657" cy="2538360"/>
          </a:xfrm>
        </p:spPr>
        <p:txBody>
          <a:bodyPr>
            <a:normAutofit/>
          </a:bodyPr>
          <a:lstStyle/>
          <a:p>
            <a:r>
              <a:rPr lang="en-US" sz="4500">
                <a:ea typeface="+mj-lt"/>
                <a:cs typeface="+mj-lt"/>
              </a:rPr>
              <a:t>Blood bank management system</a:t>
            </a:r>
            <a:endParaRPr lang="en-US" sz="4500"/>
          </a:p>
        </p:txBody>
      </p:sp>
      <p:sp>
        <p:nvSpPr>
          <p:cNvPr id="3" name="Subtitle 2">
            <a:extLst>
              <a:ext uri="{FF2B5EF4-FFF2-40B4-BE49-F238E27FC236}">
                <a16:creationId xmlns:a16="http://schemas.microsoft.com/office/drawing/2014/main" id="{363CF5F8-0028-8636-5006-5D5C52B32774}"/>
              </a:ext>
            </a:extLst>
          </p:cNvPr>
          <p:cNvSpPr>
            <a:spLocks noGrp="1"/>
          </p:cNvSpPr>
          <p:nvPr>
            <p:ph type="body" sz="quarter" idx="13"/>
          </p:nvPr>
        </p:nvSpPr>
        <p:spPr>
          <a:xfrm>
            <a:off x="8819198" y="4902800"/>
            <a:ext cx="3024899" cy="1291545"/>
          </a:xfrm>
        </p:spPr>
        <p:txBody>
          <a:bodyPr vert="horz" lIns="91440" tIns="45720" rIns="91440" bIns="45720" rtlCol="0" anchor="t">
            <a:noAutofit/>
          </a:bodyPr>
          <a:lstStyle/>
          <a:p>
            <a:pPr>
              <a:lnSpc>
                <a:spcPct val="100000"/>
              </a:lnSpc>
            </a:pPr>
            <a:r>
              <a:rPr lang="en-US" sz="1500" b="1">
                <a:cs typeface="Poppins Light"/>
              </a:rPr>
              <a:t>Presented by </a:t>
            </a:r>
            <a:r>
              <a:rPr lang="en-US" sz="1500">
                <a:cs typeface="Poppins Light"/>
              </a:rPr>
              <a:t>: </a:t>
            </a:r>
            <a:endParaRPr lang="en-US"/>
          </a:p>
          <a:p>
            <a:pPr>
              <a:lnSpc>
                <a:spcPct val="100000"/>
              </a:lnSpc>
            </a:pPr>
            <a:r>
              <a:rPr lang="en-US" sz="1500" dirty="0">
                <a:cs typeface="Poppins Light"/>
              </a:rPr>
              <a:t>Hemendra </a:t>
            </a:r>
            <a:r>
              <a:rPr lang="en-US" sz="1500" dirty="0" err="1">
                <a:cs typeface="Poppins Light"/>
              </a:rPr>
              <a:t>Chandaluri</a:t>
            </a:r>
            <a:endParaRPr lang="en-US" sz="1500" dirty="0">
              <a:cs typeface="Poppins Light"/>
            </a:endParaRPr>
          </a:p>
          <a:p>
            <a:pPr>
              <a:lnSpc>
                <a:spcPct val="100000"/>
              </a:lnSpc>
            </a:pPr>
            <a:r>
              <a:rPr lang="en-US" sz="1500" dirty="0">
                <a:cs typeface="Poppins Light"/>
              </a:rPr>
              <a:t>Junior Software </a:t>
            </a:r>
            <a:r>
              <a:rPr lang="en-US" sz="1500">
                <a:cs typeface="Poppins Light"/>
              </a:rPr>
              <a:t>Engineer</a:t>
            </a:r>
            <a:endParaRPr lang="en-US" sz="1500" dirty="0">
              <a:cs typeface="Poppins Light"/>
            </a:endParaRPr>
          </a:p>
          <a:p>
            <a:pPr>
              <a:lnSpc>
                <a:spcPct val="100000"/>
              </a:lnSpc>
            </a:pPr>
            <a:r>
              <a:rPr lang="en-US" sz="1500">
                <a:cs typeface="Poppins Light"/>
              </a:rPr>
              <a:t>DE Team</a:t>
            </a:r>
            <a:endParaRPr lang="en-US" sz="1500" dirty="0">
              <a:cs typeface="Poppins Light"/>
            </a:endParaRPr>
          </a:p>
          <a:p>
            <a:pPr>
              <a:lnSpc>
                <a:spcPct val="100000"/>
              </a:lnSpc>
            </a:pPr>
            <a:endParaRPr lang="en-US" sz="1500" dirty="0">
              <a:cs typeface="Poppins Light"/>
            </a:endParaRPr>
          </a:p>
          <a:p>
            <a:pPr>
              <a:lnSpc>
                <a:spcPct val="100000"/>
              </a:lnSpc>
            </a:pPr>
            <a:endParaRPr lang="en-US" sz="1500" dirty="0">
              <a:cs typeface="Poppins Light"/>
            </a:endParaRPr>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EE574-BF62-ADD6-1BEE-798DA234D63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648DDA3-D4FB-B1D4-913E-7670BB1C074C}"/>
              </a:ext>
            </a:extLst>
          </p:cNvPr>
          <p:cNvSpPr>
            <a:spLocks noGrp="1"/>
          </p:cNvSpPr>
          <p:nvPr>
            <p:ph sz="quarter" idx="13"/>
          </p:nvPr>
        </p:nvSpPr>
        <p:spPr>
          <a:xfrm>
            <a:off x="609855" y="1920014"/>
            <a:ext cx="9264676" cy="5588575"/>
          </a:xfrm>
        </p:spPr>
        <p:txBody>
          <a:bodyPr/>
          <a:lstStyle/>
          <a:p>
            <a:pPr algn="l">
              <a:lnSpc>
                <a:spcPct val="100000"/>
              </a:lnSpc>
            </a:pPr>
            <a:r>
              <a:rPr lang="en-US" sz="1800" b="1">
                <a:latin typeface="Poppins Light"/>
                <a:cs typeface="Poppins Light"/>
              </a:rPr>
              <a:t>Objective:</a:t>
            </a:r>
            <a:endParaRPr lang="en-US" sz="1800">
              <a:solidFill>
                <a:srgbClr val="FFFFFF"/>
              </a:solidFill>
              <a:latin typeface="Poppins Light"/>
              <a:cs typeface="Poppins Light"/>
            </a:endParaRPr>
          </a:p>
          <a:p>
            <a:pPr marL="285750" indent="-285750" algn="l">
              <a:lnSpc>
                <a:spcPct val="100000"/>
              </a:lnSpc>
              <a:buFont typeface="Arial,Sans-Serif"/>
              <a:buChar char="•"/>
            </a:pPr>
            <a:r>
              <a:rPr lang="en-US" sz="1400">
                <a:latin typeface="Poppins Light"/>
                <a:cs typeface="Poppins Light"/>
              </a:rPr>
              <a:t>Build a </a:t>
            </a:r>
            <a:r>
              <a:rPr lang="en-US" sz="1400" b="1">
                <a:latin typeface="Poppins Light"/>
                <a:cs typeface="Poppins Light"/>
              </a:rPr>
              <a:t>Data Warehouse</a:t>
            </a:r>
            <a:r>
              <a:rPr lang="en-US" sz="1400">
                <a:latin typeface="Poppins Light"/>
                <a:cs typeface="Poppins Light"/>
              </a:rPr>
              <a:t> for Blood Bank Management System.</a:t>
            </a:r>
            <a:endParaRPr lang="en-US" sz="1400">
              <a:solidFill>
                <a:srgbClr val="FFFFFF"/>
              </a:solidFill>
              <a:latin typeface="Poppins Light"/>
              <a:cs typeface="Poppins Light"/>
            </a:endParaRPr>
          </a:p>
          <a:p>
            <a:pPr marL="285750" indent="-285750" algn="l">
              <a:lnSpc>
                <a:spcPct val="100000"/>
              </a:lnSpc>
              <a:buFont typeface="Arial,Sans-Serif"/>
              <a:buChar char="•"/>
            </a:pPr>
            <a:r>
              <a:rPr lang="en-US" sz="1400">
                <a:latin typeface="Poppins Light"/>
                <a:cs typeface="Poppins Light"/>
              </a:rPr>
              <a:t>Enable </a:t>
            </a:r>
            <a:r>
              <a:rPr lang="en-US" sz="1400" b="1">
                <a:latin typeface="Poppins Light"/>
                <a:cs typeface="Poppins Light"/>
              </a:rPr>
              <a:t>analytics and reporting</a:t>
            </a:r>
            <a:r>
              <a:rPr lang="en-US" sz="1400">
                <a:latin typeface="Poppins Light"/>
                <a:cs typeface="Poppins Light"/>
              </a:rPr>
              <a:t> on donations, donors, blood tests, and recipients.</a:t>
            </a:r>
            <a:endParaRPr lang="en-US" sz="1400">
              <a:solidFill>
                <a:srgbClr val="FFFFFF"/>
              </a:solidFill>
              <a:latin typeface="Poppins Light"/>
              <a:cs typeface="Poppins Light"/>
            </a:endParaRPr>
          </a:p>
          <a:p>
            <a:pPr marL="285750" indent="-285750" algn="l">
              <a:lnSpc>
                <a:spcPct val="100000"/>
              </a:lnSpc>
              <a:buFont typeface="Arial,Sans-Serif"/>
              <a:buChar char="•"/>
            </a:pPr>
            <a:endParaRPr lang="en-US" sz="1800" dirty="0">
              <a:solidFill>
                <a:srgbClr val="000000"/>
              </a:solidFill>
              <a:latin typeface="Poppins Light"/>
              <a:cs typeface="Poppins Light"/>
            </a:endParaRPr>
          </a:p>
          <a:p>
            <a:pPr algn="l">
              <a:lnSpc>
                <a:spcPct val="100000"/>
              </a:lnSpc>
            </a:pPr>
            <a:r>
              <a:rPr lang="en-US" sz="1800" b="1">
                <a:solidFill>
                  <a:srgbClr val="000000"/>
                </a:solidFill>
                <a:latin typeface="Poppins Light"/>
                <a:ea typeface="+mj-lt"/>
                <a:cs typeface="Poppins Light"/>
              </a:rPr>
              <a:t>Key Business Goals:</a:t>
            </a:r>
            <a:endParaRPr lang="en-US" sz="1800">
              <a:latin typeface="Poppins Light"/>
              <a:cs typeface="Poppins Light"/>
            </a:endParaRPr>
          </a:p>
          <a:p>
            <a:pPr marL="285750" indent="-285750" algn="l">
              <a:lnSpc>
                <a:spcPct val="100000"/>
              </a:lnSpc>
              <a:buFont typeface="Arial"/>
              <a:buChar char="•"/>
            </a:pPr>
            <a:r>
              <a:rPr lang="en-US" sz="1400">
                <a:solidFill>
                  <a:srgbClr val="000000"/>
                </a:solidFill>
                <a:latin typeface="Poppins Light"/>
                <a:ea typeface="+mj-lt"/>
                <a:cs typeface="Poppins Light"/>
              </a:rPr>
              <a:t>Track blood donations over time</a:t>
            </a:r>
            <a:endParaRPr lang="en-US">
              <a:latin typeface="Poppins Light"/>
              <a:cs typeface="Poppins Light"/>
            </a:endParaRPr>
          </a:p>
          <a:p>
            <a:pPr marL="285750" indent="-285750" algn="l">
              <a:lnSpc>
                <a:spcPct val="100000"/>
              </a:lnSpc>
              <a:buFont typeface="Arial"/>
              <a:buChar char="•"/>
            </a:pPr>
            <a:r>
              <a:rPr lang="en-US" sz="1400">
                <a:solidFill>
                  <a:srgbClr val="000000"/>
                </a:solidFill>
                <a:latin typeface="Poppins Light"/>
                <a:ea typeface="+mj-lt"/>
                <a:cs typeface="Poppins Light"/>
              </a:rPr>
              <a:t>Monitor donor activity</a:t>
            </a:r>
            <a:endParaRPr lang="en-US">
              <a:latin typeface="Poppins Light"/>
              <a:cs typeface="Poppins Light"/>
            </a:endParaRPr>
          </a:p>
          <a:p>
            <a:pPr marL="285750" indent="-285750" algn="l">
              <a:lnSpc>
                <a:spcPct val="100000"/>
              </a:lnSpc>
              <a:buFont typeface="Arial"/>
              <a:buChar char="•"/>
            </a:pPr>
            <a:r>
              <a:rPr lang="en-US" sz="1400">
                <a:solidFill>
                  <a:srgbClr val="000000"/>
                </a:solidFill>
                <a:latin typeface="Poppins Light"/>
                <a:ea typeface="+mj-lt"/>
                <a:cs typeface="Poppins Light"/>
              </a:rPr>
              <a:t>Understand geographic distribution of donors</a:t>
            </a:r>
            <a:endParaRPr lang="en-US">
              <a:latin typeface="Poppins Light"/>
              <a:cs typeface="Poppins Light"/>
            </a:endParaRPr>
          </a:p>
          <a:p>
            <a:pPr marL="285750" indent="-285750" algn="l">
              <a:lnSpc>
                <a:spcPct val="100000"/>
              </a:lnSpc>
              <a:buFont typeface="Arial"/>
              <a:buChar char="•"/>
            </a:pPr>
            <a:r>
              <a:rPr lang="en-US" sz="1400">
                <a:solidFill>
                  <a:srgbClr val="000000"/>
                </a:solidFill>
                <a:latin typeface="Poppins Light"/>
                <a:ea typeface="+mj-lt"/>
                <a:cs typeface="Poppins Light"/>
              </a:rPr>
              <a:t>Track blood testing outcomes</a:t>
            </a:r>
            <a:endParaRPr lang="en-US">
              <a:latin typeface="Poppins Light"/>
              <a:cs typeface="Poppins Light"/>
            </a:endParaRPr>
          </a:p>
          <a:p>
            <a:pPr marL="285750" indent="-285750" algn="l">
              <a:lnSpc>
                <a:spcPct val="100000"/>
              </a:lnSpc>
              <a:buFont typeface="Arial"/>
              <a:buChar char="•"/>
            </a:pPr>
            <a:r>
              <a:rPr lang="en-US" sz="1400">
                <a:solidFill>
                  <a:srgbClr val="000000"/>
                </a:solidFill>
                <a:latin typeface="Poppins Light"/>
                <a:ea typeface="+mj-lt"/>
                <a:cs typeface="Poppins Light"/>
              </a:rPr>
              <a:t>Support hospital demand for blood</a:t>
            </a:r>
            <a:endParaRPr lang="en-US" sz="1400">
              <a:latin typeface="Poppins Light"/>
              <a:cs typeface="Poppins Light"/>
            </a:endParaRPr>
          </a:p>
          <a:p>
            <a:pPr marL="285750" indent="-285750" algn="l">
              <a:lnSpc>
                <a:spcPct val="100000"/>
              </a:lnSpc>
              <a:buFont typeface="Arial"/>
              <a:buChar char="•"/>
            </a:pPr>
            <a:endParaRPr lang="en-US" sz="1400" dirty="0">
              <a:solidFill>
                <a:srgbClr val="000000"/>
              </a:solidFill>
              <a:latin typeface="Poppins Light"/>
              <a:cs typeface="Poppins Light"/>
            </a:endParaRPr>
          </a:p>
          <a:p>
            <a:pPr algn="l"/>
            <a:r>
              <a:rPr lang="en-US" sz="1800" b="1">
                <a:solidFill>
                  <a:srgbClr val="000000"/>
                </a:solidFill>
                <a:latin typeface="Poppins Light"/>
                <a:ea typeface="+mj-lt"/>
                <a:cs typeface="Poppins Light"/>
              </a:rPr>
              <a:t>Outcome</a:t>
            </a:r>
            <a:endParaRPr lang="en-US" sz="1800">
              <a:latin typeface="Poppins Light"/>
              <a:cs typeface="Poppins Light"/>
            </a:endParaRPr>
          </a:p>
          <a:p>
            <a:pPr marL="285750" indent="-285750" algn="l">
              <a:buFont typeface="Arial"/>
              <a:buChar char="•"/>
            </a:pPr>
            <a:r>
              <a:rPr lang="en-US" sz="1400">
                <a:solidFill>
                  <a:srgbClr val="000000"/>
                </a:solidFill>
                <a:latin typeface="Poppins Light"/>
                <a:ea typeface="+mj-lt"/>
                <a:cs typeface="Poppins Light"/>
              </a:rPr>
              <a:t>A structured </a:t>
            </a:r>
            <a:r>
              <a:rPr lang="en-US" sz="1400" b="1">
                <a:solidFill>
                  <a:srgbClr val="000000"/>
                </a:solidFill>
                <a:latin typeface="Poppins Light"/>
                <a:ea typeface="+mj-lt"/>
                <a:cs typeface="Poppins Light"/>
              </a:rPr>
              <a:t>analytics layer</a:t>
            </a:r>
            <a:r>
              <a:rPr lang="en-US" sz="1400">
                <a:solidFill>
                  <a:srgbClr val="000000"/>
                </a:solidFill>
                <a:latin typeface="Poppins Light"/>
                <a:ea typeface="+mj-lt"/>
                <a:cs typeface="Poppins Light"/>
              </a:rPr>
              <a:t> supporting business reports.</a:t>
            </a:r>
            <a:endParaRPr lang="en-US">
              <a:latin typeface="Poppins Light"/>
              <a:cs typeface="Poppins Light"/>
            </a:endParaRPr>
          </a:p>
          <a:p>
            <a:pPr algn="l">
              <a:lnSpc>
                <a:spcPct val="100000"/>
              </a:lnSpc>
            </a:pPr>
            <a:endParaRPr lang="en-US" sz="1400" dirty="0">
              <a:solidFill>
                <a:srgbClr val="000000"/>
              </a:solidFill>
              <a:latin typeface="Poppins Light"/>
              <a:cs typeface="Poppins Light"/>
            </a:endParaRPr>
          </a:p>
          <a:p>
            <a:pPr algn="l">
              <a:lnSpc>
                <a:spcPct val="100000"/>
              </a:lnSpc>
            </a:pPr>
            <a:endParaRPr lang="en-US" sz="1400" dirty="0">
              <a:solidFill>
                <a:srgbClr val="000000"/>
              </a:solidFill>
              <a:latin typeface="Poppins Light"/>
              <a:cs typeface="Poppins Light"/>
            </a:endParaRPr>
          </a:p>
          <a:p>
            <a:pPr algn="l">
              <a:lnSpc>
                <a:spcPct val="100000"/>
              </a:lnSpc>
            </a:pPr>
            <a:endParaRPr lang="en-US" sz="1400" dirty="0">
              <a:solidFill>
                <a:srgbClr val="FFFFFF"/>
              </a:solidFill>
              <a:latin typeface="Poppins Light"/>
              <a:cs typeface="Poppins Light"/>
            </a:endParaRPr>
          </a:p>
          <a:p>
            <a:pPr algn="l">
              <a:lnSpc>
                <a:spcPct val="100000"/>
              </a:lnSpc>
              <a:spcBef>
                <a:spcPct val="0"/>
              </a:spcBef>
            </a:pPr>
            <a:endParaRPr lang="en-US" sz="6500" dirty="0">
              <a:solidFill>
                <a:srgbClr val="FFFFFF"/>
              </a:solidFill>
              <a:latin typeface="Poppins Light"/>
              <a:cs typeface="Poppins Light"/>
            </a:endParaRPr>
          </a:p>
          <a:p>
            <a:pPr>
              <a:lnSpc>
                <a:spcPct val="100000"/>
              </a:lnSpc>
            </a:pPr>
            <a:endParaRPr lang="en-US" dirty="0">
              <a:latin typeface="Poppins Light"/>
              <a:cs typeface="Poppins Light"/>
            </a:endParaRPr>
          </a:p>
        </p:txBody>
      </p:sp>
    </p:spTree>
    <p:extLst>
      <p:ext uri="{BB962C8B-B14F-4D97-AF65-F5344CB8AC3E}">
        <p14:creationId xmlns:p14="http://schemas.microsoft.com/office/powerpoint/2010/main" val="697958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5C9DC-67A2-85EF-96FD-4A458D53B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762D4-F5C3-76E0-95A9-62CE65FFC69E}"/>
              </a:ext>
            </a:extLst>
          </p:cNvPr>
          <p:cNvSpPr>
            <a:spLocks noGrp="1"/>
          </p:cNvSpPr>
          <p:nvPr>
            <p:ph type="ctrTitle"/>
          </p:nvPr>
        </p:nvSpPr>
        <p:spPr>
          <a:xfrm>
            <a:off x="516607" y="1715877"/>
            <a:ext cx="9145588" cy="3823408"/>
          </a:xfrm>
        </p:spPr>
        <p:txBody>
          <a:bodyPr anchor="b"/>
          <a:lstStyle/>
          <a:p>
            <a:pPr marL="285750" indent="-285750">
              <a:lnSpc>
                <a:spcPct val="150000"/>
              </a:lnSpc>
              <a:buAutoNum type="arabicPeriod"/>
            </a:pPr>
            <a:r>
              <a:rPr lang="en-US" sz="1600">
                <a:ea typeface="+mj-lt"/>
                <a:cs typeface="+mj-lt"/>
              </a:rPr>
              <a:t>Monthly donation trends by blood type</a:t>
            </a:r>
          </a:p>
          <a:p>
            <a:pPr marL="285750" indent="-285750">
              <a:lnSpc>
                <a:spcPct val="150000"/>
              </a:lnSpc>
              <a:buAutoNum type="arabicPeriod"/>
            </a:pPr>
            <a:r>
              <a:rPr lang="en-US" sz="1600">
                <a:ea typeface="+mj-lt"/>
                <a:cs typeface="+mj-lt"/>
              </a:rPr>
              <a:t>Donor demographics</a:t>
            </a:r>
            <a:endParaRPr lang="en-US" sz="1600"/>
          </a:p>
          <a:p>
            <a:pPr marL="285750" indent="-285750">
              <a:lnSpc>
                <a:spcPct val="150000"/>
              </a:lnSpc>
              <a:buAutoNum type="arabicPeriod"/>
            </a:pPr>
            <a:r>
              <a:rPr lang="en-US" sz="1600">
                <a:ea typeface="+mj-lt"/>
                <a:cs typeface="+mj-lt"/>
              </a:rPr>
              <a:t>Donor retention risk</a:t>
            </a:r>
            <a:endParaRPr lang="en-US" sz="1600"/>
          </a:p>
          <a:p>
            <a:pPr marL="285750" indent="-285750">
              <a:lnSpc>
                <a:spcPct val="150000"/>
              </a:lnSpc>
              <a:buAutoNum type="arabicPeriod"/>
            </a:pPr>
            <a:r>
              <a:rPr lang="en-US" sz="1600">
                <a:ea typeface="+mj-lt"/>
                <a:cs typeface="+mj-lt"/>
              </a:rPr>
              <a:t>Hospital demand vs supply</a:t>
            </a:r>
            <a:endParaRPr lang="en-US" sz="1600"/>
          </a:p>
          <a:p>
            <a:pPr marL="285750" indent="-285750">
              <a:lnSpc>
                <a:spcPct val="150000"/>
              </a:lnSpc>
              <a:buAutoNum type="arabicPeriod"/>
            </a:pPr>
            <a:r>
              <a:rPr lang="en-US" sz="1600">
                <a:ea typeface="+mj-lt"/>
                <a:cs typeface="+mj-lt"/>
              </a:rPr>
              <a:t>Urgent requests analysis</a:t>
            </a:r>
            <a:endParaRPr lang="en-US" sz="1600"/>
          </a:p>
          <a:p>
            <a:pPr marL="285750" indent="-285750">
              <a:lnSpc>
                <a:spcPct val="150000"/>
              </a:lnSpc>
              <a:buAutoNum type="arabicPeriod"/>
            </a:pPr>
            <a:r>
              <a:rPr lang="en-US" sz="1600">
                <a:ea typeface="+mj-lt"/>
                <a:cs typeface="+mj-lt"/>
              </a:rPr>
              <a:t>Seasonal donation patterns</a:t>
            </a:r>
            <a:endParaRPr lang="en-US" sz="1600"/>
          </a:p>
          <a:p>
            <a:pPr marL="285750" indent="-285750">
              <a:lnSpc>
                <a:spcPct val="150000"/>
              </a:lnSpc>
              <a:buAutoNum type="arabicPeriod"/>
            </a:pPr>
            <a:r>
              <a:rPr lang="en-US" sz="1600">
                <a:ea typeface="+mj-lt"/>
                <a:cs typeface="+mj-lt"/>
              </a:rPr>
              <a:t>Daily operations summary</a:t>
            </a:r>
            <a:endParaRPr lang="en-US" sz="1600"/>
          </a:p>
          <a:p>
            <a:pPr marL="285750" indent="-285750">
              <a:lnSpc>
                <a:spcPct val="150000"/>
              </a:lnSpc>
              <a:buAutoNum type="arabicPeriod"/>
            </a:pPr>
            <a:r>
              <a:rPr lang="en-US" sz="1600">
                <a:ea typeface="+mj-lt"/>
                <a:cs typeface="+mj-lt"/>
              </a:rPr>
              <a:t>Per day inventory levels by blood group</a:t>
            </a:r>
          </a:p>
          <a:p>
            <a:pPr marL="285750" indent="-285750">
              <a:lnSpc>
                <a:spcPct val="150000"/>
              </a:lnSpc>
              <a:buAutoNum type="arabicPeriod"/>
            </a:pPr>
            <a:r>
              <a:rPr lang="en-US" sz="1600">
                <a:ea typeface="+mj-lt"/>
                <a:cs typeface="+mj-lt"/>
              </a:rPr>
              <a:t>Geographic distribution of donors</a:t>
            </a:r>
          </a:p>
          <a:p>
            <a:pPr marL="342900" indent="-342900">
              <a:lnSpc>
                <a:spcPct val="150000"/>
              </a:lnSpc>
              <a:buAutoNum type="arabicPeriod"/>
            </a:pPr>
            <a:endParaRPr lang="en-US" sz="1600" dirty="0">
              <a:latin typeface="Poppins Light"/>
              <a:ea typeface="+mj-lt"/>
              <a:cs typeface="Poppins Light"/>
            </a:endParaRPr>
          </a:p>
        </p:txBody>
      </p:sp>
      <p:sp>
        <p:nvSpPr>
          <p:cNvPr id="7" name="TextBox 6">
            <a:extLst>
              <a:ext uri="{FF2B5EF4-FFF2-40B4-BE49-F238E27FC236}">
                <a16:creationId xmlns:a16="http://schemas.microsoft.com/office/drawing/2014/main" id="{9409E70B-FC10-F3F9-804F-590276D5763A}"/>
              </a:ext>
            </a:extLst>
          </p:cNvPr>
          <p:cNvSpPr txBox="1"/>
          <p:nvPr/>
        </p:nvSpPr>
        <p:spPr>
          <a:xfrm>
            <a:off x="519528" y="1185823"/>
            <a:ext cx="973898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ea typeface="+mn-lt"/>
                <a:cs typeface="+mn-lt"/>
              </a:rPr>
              <a:t>Required Business Reports:</a:t>
            </a:r>
            <a:endParaRPr lang="en-US" sz="2000" b="1">
              <a:solidFill>
                <a:schemeClr val="bg1"/>
              </a:solidFill>
              <a:cs typeface="Poppins Light"/>
            </a:endParaRPr>
          </a:p>
        </p:txBody>
      </p:sp>
    </p:spTree>
    <p:extLst>
      <p:ext uri="{BB962C8B-B14F-4D97-AF65-F5344CB8AC3E}">
        <p14:creationId xmlns:p14="http://schemas.microsoft.com/office/powerpoint/2010/main" val="1882461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66960-6EB7-5543-D7E2-21C56C333DC6}"/>
              </a:ext>
            </a:extLst>
          </p:cNvPr>
          <p:cNvSpPr>
            <a:spLocks noGrp="1"/>
          </p:cNvSpPr>
          <p:nvPr>
            <p:ph type="title"/>
          </p:nvPr>
        </p:nvSpPr>
        <p:spPr>
          <a:xfrm>
            <a:off x="640556" y="365640"/>
            <a:ext cx="10465073" cy="810933"/>
          </a:xfrm>
        </p:spPr>
        <p:txBody>
          <a:bodyPr/>
          <a:lstStyle/>
          <a:p>
            <a:r>
              <a:rPr lang="en-US" sz="2000" b="1">
                <a:ea typeface="+mj-lt"/>
                <a:cs typeface="+mj-lt"/>
              </a:rPr>
              <a:t>Source Dataset Overview</a:t>
            </a:r>
            <a:endParaRPr lang="en-US" sz="2000" b="1"/>
          </a:p>
        </p:txBody>
      </p:sp>
      <p:graphicFrame>
        <p:nvGraphicFramePr>
          <p:cNvPr id="7" name="Content Placeholder 6">
            <a:extLst>
              <a:ext uri="{FF2B5EF4-FFF2-40B4-BE49-F238E27FC236}">
                <a16:creationId xmlns:a16="http://schemas.microsoft.com/office/drawing/2014/main" id="{068657C0-C197-A2A7-D920-9F6518417680}"/>
              </a:ext>
            </a:extLst>
          </p:cNvPr>
          <p:cNvGraphicFramePr>
            <a:graphicFrameLocks noGrp="1"/>
          </p:cNvGraphicFramePr>
          <p:nvPr>
            <p:ph idx="1"/>
            <p:extLst>
              <p:ext uri="{D42A27DB-BD31-4B8C-83A1-F6EECF244321}">
                <p14:modId xmlns:p14="http://schemas.microsoft.com/office/powerpoint/2010/main" val="2678316783"/>
              </p:ext>
            </p:extLst>
          </p:nvPr>
        </p:nvGraphicFramePr>
        <p:xfrm>
          <a:off x="642650" y="918072"/>
          <a:ext cx="9822450" cy="5420421"/>
        </p:xfrm>
        <a:graphic>
          <a:graphicData uri="http://schemas.openxmlformats.org/drawingml/2006/table">
            <a:tbl>
              <a:tblPr firstRow="1" bandRow="1">
                <a:tableStyleId>{5940675A-B579-460E-94D1-54222C63F5DA}</a:tableStyleId>
              </a:tblPr>
              <a:tblGrid>
                <a:gridCol w="2326246">
                  <a:extLst>
                    <a:ext uri="{9D8B030D-6E8A-4147-A177-3AD203B41FA5}">
                      <a16:colId xmlns:a16="http://schemas.microsoft.com/office/drawing/2014/main" val="1015653664"/>
                    </a:ext>
                  </a:extLst>
                </a:gridCol>
                <a:gridCol w="3748102">
                  <a:extLst>
                    <a:ext uri="{9D8B030D-6E8A-4147-A177-3AD203B41FA5}">
                      <a16:colId xmlns:a16="http://schemas.microsoft.com/office/drawing/2014/main" val="642826378"/>
                    </a:ext>
                  </a:extLst>
                </a:gridCol>
                <a:gridCol w="3748102">
                  <a:extLst>
                    <a:ext uri="{9D8B030D-6E8A-4147-A177-3AD203B41FA5}">
                      <a16:colId xmlns:a16="http://schemas.microsoft.com/office/drawing/2014/main" val="3799121075"/>
                    </a:ext>
                  </a:extLst>
                </a:gridCol>
              </a:tblGrid>
              <a:tr h="482661">
                <a:tc>
                  <a:txBody>
                    <a:bodyPr/>
                    <a:lstStyle/>
                    <a:p>
                      <a:pPr marL="0" indent="0">
                        <a:buNone/>
                      </a:pPr>
                      <a:r>
                        <a:rPr lang="en-US" sz="1300" b="1" cap="all" baseline="0"/>
                        <a:t>Dataset domains</a:t>
                      </a:r>
                      <a:endParaRPr lang="en-US" sz="1300" b="1" cap="all" baseline="0" dirty="0"/>
                    </a:p>
                  </a:txBody>
                  <a:tcPr marL="137160" marR="137160" marT="137160" marB="137160" anchor="ctr"/>
                </a:tc>
                <a:tc>
                  <a:txBody>
                    <a:bodyPr/>
                    <a:lstStyle/>
                    <a:p>
                      <a:pPr marL="0" indent="0">
                        <a:buNone/>
                      </a:pPr>
                      <a:r>
                        <a:rPr lang="en-US" sz="1300" b="1" cap="all" baseline="0"/>
                        <a:t> Tables</a:t>
                      </a:r>
                      <a:endParaRPr lang="en-US" sz="1300" b="1" cap="all" baseline="0" dirty="0"/>
                    </a:p>
                  </a:txBody>
                  <a:tcPr marL="137160" marR="137160" marT="137160" marB="137160" anchor="ctr"/>
                </a:tc>
                <a:tc>
                  <a:txBody>
                    <a:bodyPr/>
                    <a:lstStyle/>
                    <a:p>
                      <a:pPr marL="0" lvl="0" indent="0">
                        <a:buNone/>
                      </a:pPr>
                      <a:r>
                        <a:rPr lang="en-US" sz="1300" b="1" cap="all" baseline="0" dirty="0"/>
                        <a:t>Key informa</a:t>
                      </a:r>
                      <a:r>
                        <a:rPr lang="en-US" sz="1300" b="1" cap="all" baseline="0"/>
                        <a:t>tion</a:t>
                      </a:r>
                      <a:endParaRPr lang="en-US" sz="1300" b="1" cap="all" baseline="0" dirty="0"/>
                    </a:p>
                  </a:txBody>
                  <a:tcPr marL="137160" marR="137160" marT="137160" marB="137160" anchor="ctr"/>
                </a:tc>
                <a:extLst>
                  <a:ext uri="{0D108BD9-81ED-4DB2-BD59-A6C34878D82A}">
                    <a16:rowId xmlns:a16="http://schemas.microsoft.com/office/drawing/2014/main" val="179652336"/>
                  </a:ext>
                </a:extLst>
              </a:tr>
              <a:tr h="834600">
                <a:tc>
                  <a:txBody>
                    <a:bodyPr/>
                    <a:lstStyle/>
                    <a:p>
                      <a:pPr marL="0" indent="0">
                        <a:buNone/>
                      </a:pPr>
                      <a:r>
                        <a:rPr lang="en-US" sz="1300"/>
                        <a:t>Donor Management</a:t>
                      </a:r>
                      <a:endParaRPr lang="en-US" sz="1300" dirty="0"/>
                    </a:p>
                  </a:txBody>
                  <a:tcPr marL="137160" marR="137160" marT="137160" marB="137160" anchor="ctr"/>
                </a:tc>
                <a:tc>
                  <a:txBody>
                    <a:bodyPr/>
                    <a:lstStyle/>
                    <a:p>
                      <a:pPr marL="285750" indent="-285750">
                        <a:lnSpc>
                          <a:spcPct val="100000"/>
                        </a:lnSpc>
                        <a:buFont typeface="Arial"/>
                        <a:buChar char="•"/>
                      </a:pPr>
                      <a:r>
                        <a:rPr lang="en-US" sz="1300"/>
                        <a:t>donors</a:t>
                      </a:r>
                      <a:endParaRPr lang="en-US" sz="1300" dirty="0"/>
                    </a:p>
                    <a:p>
                      <a:pPr marL="285750" lvl="0" indent="-285750">
                        <a:lnSpc>
                          <a:spcPct val="100000"/>
                        </a:lnSpc>
                        <a:buFont typeface="Arial"/>
                        <a:buChar char="•"/>
                      </a:pPr>
                      <a:r>
                        <a:rPr lang="en-US" sz="1300" dirty="0" err="1"/>
                        <a:t>donor_history</a:t>
                      </a:r>
                      <a:endParaRPr lang="en-US" sz="1300" dirty="0"/>
                    </a:p>
                  </a:txBody>
                  <a:tcPr marL="137160" marR="137160" marT="137160" marB="137160" anchor="ctr"/>
                </a:tc>
                <a:tc>
                  <a:txBody>
                    <a:bodyPr/>
                    <a:lstStyle/>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Donor personal details</a:t>
                      </a:r>
                      <a:endParaRPr lang="en-US" sz="1300" dirty="0"/>
                    </a:p>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Blood group</a:t>
                      </a:r>
                      <a:endParaRPr lang="en-US" sz="1300" dirty="0"/>
                    </a:p>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Donation history</a:t>
                      </a:r>
                      <a:endParaRPr lang="en-US" sz="1300" dirty="0"/>
                    </a:p>
                  </a:txBody>
                  <a:tcPr marL="137160" marR="137160" marT="137160" marB="137160" anchor="ctr"/>
                </a:tc>
                <a:extLst>
                  <a:ext uri="{0D108BD9-81ED-4DB2-BD59-A6C34878D82A}">
                    <a16:rowId xmlns:a16="http://schemas.microsoft.com/office/drawing/2014/main" val="4244066008"/>
                  </a:ext>
                </a:extLst>
              </a:tr>
              <a:tr h="834600">
                <a:tc>
                  <a:txBody>
                    <a:bodyPr/>
                    <a:lstStyle/>
                    <a:p>
                      <a:pPr marL="0" lvl="0" indent="0">
                        <a:buNone/>
                      </a:pPr>
                      <a:r>
                        <a:rPr lang="en-US" sz="1300" b="0" i="0" u="none" strike="noStrike" noProof="0">
                          <a:latin typeface="Poppins Light"/>
                          <a:cs typeface="Poppins Light"/>
                        </a:rPr>
                        <a:t>Blood Donation Transactions</a:t>
                      </a:r>
                      <a:endParaRPr lang="en-US" sz="1300" dirty="0"/>
                    </a:p>
                  </a:txBody>
                  <a:tcPr marL="137160" marR="137160" marT="137160" marB="137160" anchor="ctr"/>
                </a:tc>
                <a:tc>
                  <a:txBody>
                    <a:bodyPr/>
                    <a:lstStyle/>
                    <a:p>
                      <a:pPr marL="285750" lvl="0" indent="-285750">
                        <a:buFont typeface="Arial"/>
                        <a:buChar char="•"/>
                      </a:pPr>
                      <a:r>
                        <a:rPr lang="en-US" sz="1300" b="0" i="0" u="none" strike="noStrike" noProof="0">
                          <a:latin typeface="Poppins Light"/>
                          <a:cs typeface="Poppins Light"/>
                        </a:rPr>
                        <a:t>donations</a:t>
                      </a:r>
                      <a:endParaRPr lang="en-US" sz="1300" dirty="0"/>
                    </a:p>
                  </a:txBody>
                  <a:tcPr marL="137160" marR="137160" marT="137160" marB="137160" anchor="ctr"/>
                </a:tc>
                <a:tc>
                  <a:txBody>
                    <a:bodyPr/>
                    <a:lstStyle/>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Donor who donated</a:t>
                      </a:r>
                      <a:endParaRPr lang="en-US" sz="1300" dirty="0"/>
                    </a:p>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Hospital where donation occurred</a:t>
                      </a:r>
                      <a:endParaRPr lang="en-US" sz="1300" dirty="0"/>
                    </a:p>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Donation date</a:t>
                      </a:r>
                      <a:endParaRPr lang="en-US" sz="1300" dirty="0"/>
                    </a:p>
                  </a:txBody>
                  <a:tcPr marL="137160" marR="137160" marT="137160" marB="137160" anchor="ctr"/>
                </a:tc>
                <a:extLst>
                  <a:ext uri="{0D108BD9-81ED-4DB2-BD59-A6C34878D82A}">
                    <a16:rowId xmlns:a16="http://schemas.microsoft.com/office/drawing/2014/main" val="2112537045"/>
                  </a:ext>
                </a:extLst>
              </a:tr>
              <a:tr h="1166434">
                <a:tc>
                  <a:txBody>
                    <a:bodyPr/>
                    <a:lstStyle/>
                    <a:p>
                      <a:pPr lvl="0" algn="l">
                        <a:lnSpc>
                          <a:spcPct val="100000"/>
                        </a:lnSpc>
                        <a:spcBef>
                          <a:spcPts val="0"/>
                        </a:spcBef>
                        <a:spcAft>
                          <a:spcPts val="0"/>
                        </a:spcAft>
                        <a:buNone/>
                      </a:pPr>
                      <a:r>
                        <a:rPr lang="en-US" sz="1300"/>
                        <a:t>Blood Testing Operations</a:t>
                      </a:r>
                      <a:endParaRPr lang="en-US" sz="1300" dirty="0"/>
                    </a:p>
                    <a:p>
                      <a:pPr marL="0" lvl="0" indent="0">
                        <a:buNone/>
                      </a:pPr>
                      <a:endParaRPr lang="en-US" sz="1300" dirty="0"/>
                    </a:p>
                  </a:txBody>
                  <a:tcPr marL="137160" marR="137160" marT="137160" marB="137160" anchor="ctr"/>
                </a:tc>
                <a:tc>
                  <a:txBody>
                    <a:bodyPr/>
                    <a:lstStyle/>
                    <a:p>
                      <a:pPr marL="285750" lvl="0" indent="-285750" algn="l">
                        <a:lnSpc>
                          <a:spcPct val="100000"/>
                        </a:lnSpc>
                        <a:spcBef>
                          <a:spcPts val="0"/>
                        </a:spcBef>
                        <a:spcAft>
                          <a:spcPts val="0"/>
                        </a:spcAft>
                        <a:buFont typeface="Arial"/>
                        <a:buChar char="•"/>
                      </a:pPr>
                      <a:r>
                        <a:rPr lang="en-US" sz="1300" b="0" i="0" u="none" strike="noStrike" noProof="0" dirty="0" err="1">
                          <a:latin typeface="Poppins Light"/>
                          <a:cs typeface="Poppins Light"/>
                        </a:rPr>
                        <a:t>blood_tests</a:t>
                      </a:r>
                      <a:endParaRPr lang="en-US" sz="1300">
                        <a:latin typeface="Poppins Light"/>
                        <a:cs typeface="Poppins Light"/>
                      </a:endParaRPr>
                    </a:p>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technicians</a:t>
                      </a:r>
                      <a:endParaRPr lang="en-US" sz="1300">
                        <a:latin typeface="Poppins Light"/>
                        <a:cs typeface="Poppins Light"/>
                      </a:endParaRPr>
                    </a:p>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tasks</a:t>
                      </a:r>
                      <a:endParaRPr lang="en-US" sz="1300">
                        <a:latin typeface="Poppins Light"/>
                        <a:cs typeface="Poppins Light"/>
                      </a:endParaRPr>
                    </a:p>
                    <a:p>
                      <a:pPr marL="285750" lvl="0" indent="-285750" algn="l">
                        <a:lnSpc>
                          <a:spcPct val="100000"/>
                        </a:lnSpc>
                        <a:spcBef>
                          <a:spcPts val="0"/>
                        </a:spcBef>
                        <a:spcAft>
                          <a:spcPts val="0"/>
                        </a:spcAft>
                        <a:buFont typeface="Arial"/>
                        <a:buChar char="•"/>
                      </a:pPr>
                      <a:r>
                        <a:rPr lang="en-US" sz="1300" b="0" i="0" u="none" strike="noStrike" noProof="0" dirty="0" err="1">
                          <a:latin typeface="Poppins Light"/>
                          <a:cs typeface="Poppins Light"/>
                        </a:rPr>
                        <a:t>technician_tasks</a:t>
                      </a:r>
                      <a:endParaRPr lang="en-US" sz="1300">
                        <a:latin typeface="Poppins Light"/>
                        <a:cs typeface="Poppins Light"/>
                      </a:endParaRPr>
                    </a:p>
                    <a:p>
                      <a:pPr marL="0" lvl="0" indent="0">
                        <a:buNone/>
                      </a:pPr>
                      <a:endParaRPr lang="en-US" sz="1300" dirty="0"/>
                    </a:p>
                  </a:txBody>
                  <a:tcPr marL="137160" marR="137160" marT="137160" marB="137160" anchor="ctr"/>
                </a:tc>
                <a:tc>
                  <a:txBody>
                    <a:bodyPr/>
                    <a:lstStyle/>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Disease tests performed</a:t>
                      </a:r>
                      <a:endParaRPr lang="en-US" sz="1300" dirty="0"/>
                    </a:p>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Test results</a:t>
                      </a:r>
                      <a:endParaRPr lang="en-US" sz="1300" dirty="0"/>
                    </a:p>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Technician assignments</a:t>
                      </a:r>
                      <a:endParaRPr lang="en-US" sz="1300" b="0" i="0" u="none" strike="noStrike" noProof="0" dirty="0">
                        <a:latin typeface="Poppins Light"/>
                        <a:cs typeface="Poppins Light"/>
                      </a:endParaRPr>
                    </a:p>
                  </a:txBody>
                  <a:tcPr marL="137160" marR="137160" marT="137160" marB="137160" anchor="ctr"/>
                </a:tc>
                <a:extLst>
                  <a:ext uri="{0D108BD9-81ED-4DB2-BD59-A6C34878D82A}">
                    <a16:rowId xmlns:a16="http://schemas.microsoft.com/office/drawing/2014/main" val="4293267313"/>
                  </a:ext>
                </a:extLst>
              </a:tr>
              <a:tr h="824545">
                <a:tc>
                  <a:txBody>
                    <a:bodyPr/>
                    <a:lstStyle/>
                    <a:p>
                      <a:pPr marL="0" lvl="0" indent="0">
                        <a:buNone/>
                      </a:pPr>
                      <a:r>
                        <a:rPr lang="en-US" sz="1300" b="0" i="0" u="none" strike="noStrike" noProof="0">
                          <a:latin typeface="Poppins Light"/>
                          <a:cs typeface="Poppins Light"/>
                        </a:rPr>
                        <a:t>Blood Inventory &amp; Compatibility</a:t>
                      </a:r>
                      <a:endParaRPr lang="en-US" sz="1300" dirty="0"/>
                    </a:p>
                  </a:txBody>
                  <a:tcPr marL="137160" marR="137160" marT="137160" marB="137160" anchor="ctr"/>
                </a:tc>
                <a:tc>
                  <a:txBody>
                    <a:bodyPr/>
                    <a:lstStyle/>
                    <a:p>
                      <a:pPr marL="285750" lvl="0" indent="-285750" algn="l">
                        <a:lnSpc>
                          <a:spcPct val="100000"/>
                        </a:lnSpc>
                        <a:spcBef>
                          <a:spcPts val="0"/>
                        </a:spcBef>
                        <a:spcAft>
                          <a:spcPts val="0"/>
                        </a:spcAft>
                        <a:buFont typeface="Arial"/>
                        <a:buChar char="•"/>
                      </a:pPr>
                      <a:r>
                        <a:rPr lang="en-US" sz="1300" b="0" i="0" u="none" strike="noStrike" noProof="0" dirty="0" err="1">
                          <a:latin typeface="Poppins Light"/>
                          <a:cs typeface="Poppins Light"/>
                        </a:rPr>
                        <a:t>blood_inventory</a:t>
                      </a:r>
                      <a:endParaRPr lang="en-US" sz="1300">
                        <a:latin typeface="Poppins Light"/>
                        <a:cs typeface="Poppins Light"/>
                      </a:endParaRPr>
                    </a:p>
                    <a:p>
                      <a:pPr marL="285750" lvl="0" indent="-285750" algn="l">
                        <a:lnSpc>
                          <a:spcPct val="100000"/>
                        </a:lnSpc>
                        <a:spcBef>
                          <a:spcPts val="0"/>
                        </a:spcBef>
                        <a:spcAft>
                          <a:spcPts val="0"/>
                        </a:spcAft>
                        <a:buFont typeface="Arial"/>
                        <a:buChar char="•"/>
                      </a:pPr>
                      <a:r>
                        <a:rPr lang="en-US" sz="1300" b="0" i="0" u="none" strike="noStrike" noProof="0" dirty="0" err="1">
                          <a:latin typeface="Poppins Light"/>
                          <a:cs typeface="Poppins Light"/>
                        </a:rPr>
                        <a:t>blood_type_compatibility</a:t>
                      </a:r>
                      <a:endParaRPr lang="en-US" sz="1300">
                        <a:latin typeface="Poppins Light"/>
                        <a:cs typeface="Poppins Light"/>
                      </a:endParaRPr>
                    </a:p>
                  </a:txBody>
                  <a:tcPr marL="137160" marR="137160" marT="137160" marB="137160" anchor="ctr"/>
                </a:tc>
                <a:tc>
                  <a:txBody>
                    <a:bodyPr/>
                    <a:lstStyle/>
                    <a:p>
                      <a:pPr marL="285750" lvl="0" indent="-285750" algn="l">
                        <a:lnSpc>
                          <a:spcPct val="100000"/>
                        </a:lnSpc>
                        <a:spcBef>
                          <a:spcPts val="0"/>
                        </a:spcBef>
                        <a:spcAft>
                          <a:spcPts val="0"/>
                        </a:spcAft>
                        <a:buFont typeface="Arial"/>
                        <a:buChar char="•"/>
                      </a:pPr>
                      <a:r>
                        <a:rPr lang="en-US" sz="1300" b="0" i="0" u="none" strike="noStrike" noProof="0"/>
                        <a:t>Blood units available</a:t>
                      </a:r>
                      <a:endParaRPr lang="en-US" sz="1300" b="0" i="0" u="none" strike="noStrike" noProof="0" dirty="0">
                        <a:latin typeface="Poppins Light"/>
                        <a:cs typeface="Poppins Light"/>
                      </a:endParaRPr>
                    </a:p>
                    <a:p>
                      <a:pPr marL="285750" lvl="0" indent="-285750" algn="l">
                        <a:lnSpc>
                          <a:spcPct val="100000"/>
                        </a:lnSpc>
                        <a:spcBef>
                          <a:spcPts val="0"/>
                        </a:spcBef>
                        <a:spcAft>
                          <a:spcPts val="0"/>
                        </a:spcAft>
                        <a:buFont typeface="Arial"/>
                        <a:buChar char="•"/>
                      </a:pPr>
                      <a:r>
                        <a:rPr lang="en-US" sz="1300" b="0" i="0" u="none" strike="noStrike" noProof="0"/>
                        <a:t>Compatibility between blood groups</a:t>
                      </a:r>
                      <a:endParaRPr lang="en-US" sz="1300" dirty="0"/>
                    </a:p>
                    <a:p>
                      <a:pPr marL="285750" lvl="0" indent="-285750" algn="l">
                        <a:lnSpc>
                          <a:spcPct val="100000"/>
                        </a:lnSpc>
                        <a:spcBef>
                          <a:spcPts val="0"/>
                        </a:spcBef>
                        <a:spcAft>
                          <a:spcPts val="0"/>
                        </a:spcAft>
                        <a:buFont typeface="Arial"/>
                        <a:buChar char="•"/>
                      </a:pPr>
                      <a:endParaRPr lang="en-US" sz="1300" b="0" i="0" u="none" strike="noStrike" noProof="0" dirty="0">
                        <a:latin typeface="Poppins Light"/>
                        <a:cs typeface="Poppins Light"/>
                      </a:endParaRPr>
                    </a:p>
                  </a:txBody>
                  <a:tcPr marL="137160" marR="137160" marT="137160" marB="137160" anchor="ctr"/>
                </a:tc>
                <a:extLst>
                  <a:ext uri="{0D108BD9-81ED-4DB2-BD59-A6C34878D82A}">
                    <a16:rowId xmlns:a16="http://schemas.microsoft.com/office/drawing/2014/main" val="3787738537"/>
                  </a:ext>
                </a:extLst>
              </a:tr>
              <a:tr h="1065870">
                <a:tc>
                  <a:txBody>
                    <a:bodyPr/>
                    <a:lstStyle/>
                    <a:p>
                      <a:pPr marL="0" lvl="0" indent="0">
                        <a:buNone/>
                      </a:pPr>
                      <a:r>
                        <a:rPr lang="en-US" sz="1300" b="0" i="0" u="none" strike="noStrike" noProof="0"/>
                        <a:t>Hospital &amp; Blood Recipients</a:t>
                      </a:r>
                      <a:endParaRPr lang="en-US" sz="1300" dirty="0"/>
                    </a:p>
                  </a:txBody>
                  <a:tcPr marL="137160" marR="137160" marT="137160" marB="137160" anchor="ctr"/>
                </a:tc>
                <a:tc>
                  <a:txBody>
                    <a:bodyPr/>
                    <a:lstStyle/>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hospitals</a:t>
                      </a:r>
                      <a:endParaRPr lang="en-US" sz="1300" b="0" i="0" u="none" strike="noStrike" noProof="0" dirty="0">
                        <a:latin typeface="Poppins Light"/>
                        <a:cs typeface="Poppins Light"/>
                      </a:endParaRPr>
                    </a:p>
                    <a:p>
                      <a:pPr marL="285750" lvl="0" indent="-285750" algn="l">
                        <a:lnSpc>
                          <a:spcPct val="100000"/>
                        </a:lnSpc>
                        <a:spcBef>
                          <a:spcPts val="0"/>
                        </a:spcBef>
                        <a:spcAft>
                          <a:spcPts val="0"/>
                        </a:spcAft>
                        <a:buFont typeface="Arial"/>
                        <a:buChar char="•"/>
                      </a:pPr>
                      <a:r>
                        <a:rPr lang="en-US" sz="1300" b="0" i="0" u="none" strike="noStrike" noProof="0">
                          <a:latin typeface="Poppins Light"/>
                          <a:cs typeface="Poppins Light"/>
                        </a:rPr>
                        <a:t>recipients</a:t>
                      </a:r>
                      <a:endParaRPr lang="en-US" sz="1300">
                        <a:latin typeface="Poppins Light"/>
                        <a:cs typeface="Poppins Light"/>
                      </a:endParaRPr>
                    </a:p>
                    <a:p>
                      <a:pPr marL="285750" lvl="0" indent="-285750" algn="l">
                        <a:lnSpc>
                          <a:spcPct val="100000"/>
                        </a:lnSpc>
                        <a:spcBef>
                          <a:spcPts val="0"/>
                        </a:spcBef>
                        <a:spcAft>
                          <a:spcPts val="0"/>
                        </a:spcAft>
                        <a:buFont typeface="Arial"/>
                        <a:buChar char="•"/>
                      </a:pPr>
                      <a:endParaRPr lang="en-US" sz="1300" b="0" i="0" u="none" strike="noStrike" noProof="0" dirty="0">
                        <a:latin typeface="Poppins Light"/>
                        <a:cs typeface="Poppins Light"/>
                      </a:endParaRPr>
                    </a:p>
                  </a:txBody>
                  <a:tcPr marL="137160" marR="137160" marT="137160" marB="137160" anchor="ctr"/>
                </a:tc>
                <a:tc>
                  <a:txBody>
                    <a:bodyPr/>
                    <a:lstStyle/>
                    <a:p>
                      <a:pPr marL="285750" lvl="0" indent="-285750" algn="l">
                        <a:lnSpc>
                          <a:spcPct val="100000"/>
                        </a:lnSpc>
                        <a:spcBef>
                          <a:spcPts val="0"/>
                        </a:spcBef>
                        <a:spcAft>
                          <a:spcPts val="0"/>
                        </a:spcAft>
                        <a:buFont typeface="Arial"/>
                        <a:buChar char="•"/>
                      </a:pPr>
                      <a:r>
                        <a:rPr lang="en-US" sz="1300" b="0" i="0" u="none" strike="noStrike" noProof="0"/>
                        <a:t>Hospital details</a:t>
                      </a:r>
                      <a:endParaRPr lang="en-US" sz="1300" b="0" i="0" u="none" strike="noStrike" noProof="0" dirty="0">
                        <a:latin typeface="Poppins Light"/>
                        <a:cs typeface="Poppins Light"/>
                      </a:endParaRPr>
                    </a:p>
                    <a:p>
                      <a:pPr marL="285750" lvl="0" indent="-285750" algn="l">
                        <a:lnSpc>
                          <a:spcPct val="100000"/>
                        </a:lnSpc>
                        <a:spcBef>
                          <a:spcPts val="0"/>
                        </a:spcBef>
                        <a:spcAft>
                          <a:spcPts val="0"/>
                        </a:spcAft>
                        <a:buFont typeface="Arial"/>
                        <a:buChar char="•"/>
                      </a:pPr>
                      <a:r>
                        <a:rPr lang="en-US" sz="1300" b="0" i="0" u="none" strike="noStrike" noProof="0"/>
                        <a:t>Blood request information</a:t>
                      </a:r>
                      <a:endParaRPr lang="en-US" sz="1300" dirty="0"/>
                    </a:p>
                    <a:p>
                      <a:pPr marL="285750" lvl="0" indent="-285750" algn="l">
                        <a:lnSpc>
                          <a:spcPct val="100000"/>
                        </a:lnSpc>
                        <a:spcBef>
                          <a:spcPts val="0"/>
                        </a:spcBef>
                        <a:spcAft>
                          <a:spcPts val="0"/>
                        </a:spcAft>
                        <a:buFont typeface="Arial"/>
                        <a:buChar char="•"/>
                      </a:pPr>
                      <a:r>
                        <a:rPr lang="en-US" sz="1300" b="0" i="0" u="none" strike="noStrike" noProof="0"/>
                        <a:t>Recipient urgency levels</a:t>
                      </a:r>
                      <a:endParaRPr lang="en-US" sz="1300" dirty="0"/>
                    </a:p>
                    <a:p>
                      <a:pPr marL="285750" lvl="0" indent="-285750" algn="l">
                        <a:lnSpc>
                          <a:spcPct val="100000"/>
                        </a:lnSpc>
                        <a:spcBef>
                          <a:spcPts val="0"/>
                        </a:spcBef>
                        <a:spcAft>
                          <a:spcPts val="0"/>
                        </a:spcAft>
                        <a:buFont typeface="Arial"/>
                        <a:buChar char="•"/>
                      </a:pPr>
                      <a:endParaRPr lang="en-US" sz="1300" b="0" i="0" u="none" strike="noStrike" noProof="0" dirty="0">
                        <a:latin typeface="Poppins Light"/>
                        <a:cs typeface="Poppins Light"/>
                      </a:endParaRPr>
                    </a:p>
                  </a:txBody>
                  <a:tcPr marL="137160" marR="137160" marT="137160" marB="137160" anchor="ctr"/>
                </a:tc>
                <a:extLst>
                  <a:ext uri="{0D108BD9-81ED-4DB2-BD59-A6C34878D82A}">
                    <a16:rowId xmlns:a16="http://schemas.microsoft.com/office/drawing/2014/main" val="1154901676"/>
                  </a:ext>
                </a:extLst>
              </a:tr>
            </a:tbl>
          </a:graphicData>
        </a:graphic>
      </p:graphicFrame>
    </p:spTree>
    <p:extLst>
      <p:ext uri="{BB962C8B-B14F-4D97-AF65-F5344CB8AC3E}">
        <p14:creationId xmlns:p14="http://schemas.microsoft.com/office/powerpoint/2010/main" val="2123826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84296-E068-F14B-B1AE-1C2BECAE29F1}"/>
              </a:ext>
            </a:extLst>
          </p:cNvPr>
          <p:cNvSpPr>
            <a:spLocks noGrp="1"/>
          </p:cNvSpPr>
          <p:nvPr>
            <p:ph type="ctrTitle"/>
          </p:nvPr>
        </p:nvSpPr>
        <p:spPr>
          <a:xfrm>
            <a:off x="943044" y="2481448"/>
            <a:ext cx="4206240" cy="1902746"/>
          </a:xfrm>
        </p:spPr>
        <p:txBody>
          <a:bodyPr>
            <a:normAutofit/>
          </a:bodyPr>
          <a:lstStyle/>
          <a:p>
            <a:pPr algn="ctr">
              <a:lnSpc>
                <a:spcPct val="150000"/>
              </a:lnSpc>
            </a:pPr>
            <a:r>
              <a:rPr lang="en-US" sz="3000">
                <a:ea typeface="+mj-lt"/>
                <a:cs typeface="+mj-lt"/>
              </a:rPr>
              <a:t>Data Warehouse Architecture</a:t>
            </a:r>
            <a:endParaRPr lang="en-US" sz="3000"/>
          </a:p>
        </p:txBody>
      </p:sp>
      <p:pic>
        <p:nvPicPr>
          <p:cNvPr id="9" name="Picture 8">
            <a:extLst>
              <a:ext uri="{FF2B5EF4-FFF2-40B4-BE49-F238E27FC236}">
                <a16:creationId xmlns:a16="http://schemas.microsoft.com/office/drawing/2014/main" id="{A7E52A97-6D2B-B5A2-E759-147D4DEAD315}"/>
              </a:ext>
            </a:extLst>
          </p:cNvPr>
          <p:cNvPicPr>
            <a:picLocks noChangeAspect="1"/>
          </p:cNvPicPr>
          <p:nvPr/>
        </p:nvPicPr>
        <p:blipFill>
          <a:blip r:embed="rId2"/>
          <a:stretch>
            <a:fillRect/>
          </a:stretch>
        </p:blipFill>
        <p:spPr>
          <a:xfrm>
            <a:off x="5511453" y="344466"/>
            <a:ext cx="4519808" cy="6179507"/>
          </a:xfrm>
          <a:prstGeom prst="rect">
            <a:avLst/>
          </a:prstGeom>
        </p:spPr>
      </p:pic>
    </p:spTree>
    <p:extLst>
      <p:ext uri="{BB962C8B-B14F-4D97-AF65-F5344CB8AC3E}">
        <p14:creationId xmlns:p14="http://schemas.microsoft.com/office/powerpoint/2010/main" val="3681945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061A1-44F4-396F-FB1B-7A0C2522B179}"/>
              </a:ext>
            </a:extLst>
          </p:cNvPr>
          <p:cNvSpPr>
            <a:spLocks noGrp="1"/>
          </p:cNvSpPr>
          <p:nvPr>
            <p:ph type="title"/>
          </p:nvPr>
        </p:nvSpPr>
        <p:spPr>
          <a:xfrm>
            <a:off x="745146" y="907303"/>
            <a:ext cx="10465073" cy="1132258"/>
          </a:xfrm>
        </p:spPr>
        <p:txBody>
          <a:bodyPr/>
          <a:lstStyle/>
          <a:p>
            <a:pPr algn="ctr"/>
            <a:r>
              <a:rPr lang="en-US">
                <a:ea typeface="+mj-lt"/>
                <a:cs typeface="+mj-lt"/>
              </a:rPr>
              <a:t>RAW Layer </a:t>
            </a:r>
            <a:br>
              <a:rPr lang="en-US" dirty="0">
                <a:ea typeface="+mj-lt"/>
                <a:cs typeface="+mj-lt"/>
              </a:rPr>
            </a:br>
            <a:r>
              <a:rPr lang="en-US" sz="3000"/>
              <a:t>(Truncate &amp; load)</a:t>
            </a:r>
          </a:p>
        </p:txBody>
      </p:sp>
      <p:sp>
        <p:nvSpPr>
          <p:cNvPr id="3" name="Content Placeholder 2">
            <a:extLst>
              <a:ext uri="{FF2B5EF4-FFF2-40B4-BE49-F238E27FC236}">
                <a16:creationId xmlns:a16="http://schemas.microsoft.com/office/drawing/2014/main" id="{82D3C26F-9227-C46D-B83A-85546FECAB59}"/>
              </a:ext>
            </a:extLst>
          </p:cNvPr>
          <p:cNvSpPr>
            <a:spLocks noGrp="1"/>
          </p:cNvSpPr>
          <p:nvPr>
            <p:ph type="body" sz="quarter" idx="13"/>
          </p:nvPr>
        </p:nvSpPr>
        <p:spPr>
          <a:xfrm>
            <a:off x="1484683" y="2488516"/>
            <a:ext cx="4310125" cy="2779870"/>
          </a:xfrm>
        </p:spPr>
        <p:txBody>
          <a:bodyPr vert="horz" lIns="91440" tIns="45720" rIns="91440" bIns="45720" rtlCol="0" anchor="t">
            <a:normAutofit/>
          </a:bodyPr>
          <a:lstStyle/>
          <a:p>
            <a:pPr marL="0" indent="0">
              <a:buNone/>
            </a:pPr>
            <a:r>
              <a:rPr lang="en-US" sz="2000" b="1">
                <a:ea typeface="+mn-lt"/>
                <a:cs typeface="+mn-lt"/>
              </a:rPr>
              <a:t>Raw Layer Characteristics</a:t>
            </a:r>
            <a:endParaRPr lang="en-US" sz="2000">
              <a:cs typeface="Poppins Light"/>
            </a:endParaRPr>
          </a:p>
          <a:p>
            <a:r>
              <a:rPr lang="en-US">
                <a:ea typeface="+mn-lt"/>
                <a:cs typeface="+mn-lt"/>
              </a:rPr>
              <a:t>Data ingested from source system</a:t>
            </a:r>
            <a:endParaRPr lang="en-US">
              <a:cs typeface="Poppins Light"/>
            </a:endParaRPr>
          </a:p>
          <a:p>
            <a:r>
              <a:rPr lang="en-US">
                <a:ea typeface="+mn-lt"/>
                <a:cs typeface="+mn-lt"/>
              </a:rPr>
              <a:t>Stored without transformations</a:t>
            </a:r>
            <a:endParaRPr lang="en-US">
              <a:cs typeface="Poppins Light"/>
            </a:endParaRPr>
          </a:p>
          <a:p>
            <a:r>
              <a:rPr lang="en-US">
                <a:cs typeface="Poppins Light"/>
              </a:rPr>
              <a:t>Stores latest data </a:t>
            </a:r>
          </a:p>
          <a:p>
            <a:r>
              <a:rPr lang="en-US" dirty="0">
                <a:ea typeface="+mn-lt"/>
                <a:cs typeface="+mn-lt"/>
              </a:rPr>
              <a:t>Acts as single source of truth</a:t>
            </a:r>
            <a:endParaRPr lang="en-US">
              <a:cs typeface="Poppins Light"/>
            </a:endParaRPr>
          </a:p>
        </p:txBody>
      </p:sp>
      <p:sp>
        <p:nvSpPr>
          <p:cNvPr id="4" name="Text Placeholder 3">
            <a:extLst>
              <a:ext uri="{FF2B5EF4-FFF2-40B4-BE49-F238E27FC236}">
                <a16:creationId xmlns:a16="http://schemas.microsoft.com/office/drawing/2014/main" id="{0E69B746-18D7-5324-E077-D8D259B3A439}"/>
              </a:ext>
            </a:extLst>
          </p:cNvPr>
          <p:cNvSpPr>
            <a:spLocks noGrp="1"/>
          </p:cNvSpPr>
          <p:nvPr>
            <p:ph type="body" sz="quarter" idx="15"/>
          </p:nvPr>
        </p:nvSpPr>
        <p:spPr>
          <a:xfrm>
            <a:off x="7659322" y="2488516"/>
            <a:ext cx="3255851" cy="2633733"/>
          </a:xfrm>
        </p:spPr>
        <p:txBody>
          <a:bodyPr vert="horz" lIns="91440" tIns="45720" rIns="91440" bIns="45720" rtlCol="0" anchor="t">
            <a:normAutofit/>
          </a:bodyPr>
          <a:lstStyle/>
          <a:p>
            <a:pPr marL="0" indent="0">
              <a:buNone/>
            </a:pPr>
            <a:r>
              <a:rPr lang="en-US" sz="2000" b="1">
                <a:cs typeface="Poppins Light"/>
              </a:rPr>
              <a:t>Example tables:</a:t>
            </a:r>
            <a:endParaRPr lang="en-US" sz="2000">
              <a:cs typeface="Poppins Light"/>
            </a:endParaRPr>
          </a:p>
          <a:p>
            <a:r>
              <a:rPr lang="en-US" dirty="0" err="1">
                <a:cs typeface="Poppins Light"/>
              </a:rPr>
              <a:t>raw_donors</a:t>
            </a:r>
          </a:p>
          <a:p>
            <a:r>
              <a:rPr lang="en-US" dirty="0" err="1">
                <a:cs typeface="Poppins Light"/>
              </a:rPr>
              <a:t>raw_donations</a:t>
            </a:r>
          </a:p>
          <a:p>
            <a:r>
              <a:rPr lang="en-US" dirty="0" err="1">
                <a:cs typeface="Poppins Light"/>
              </a:rPr>
              <a:t>raw_recipients</a:t>
            </a:r>
          </a:p>
          <a:p>
            <a:r>
              <a:rPr lang="en-US" dirty="0" err="1">
                <a:cs typeface="Poppins Light"/>
              </a:rPr>
              <a:t>raw_blood_tests</a:t>
            </a:r>
          </a:p>
          <a:p>
            <a:endParaRPr lang="en-US" dirty="0">
              <a:cs typeface="Poppins Light"/>
            </a:endParaRPr>
          </a:p>
        </p:txBody>
      </p:sp>
    </p:spTree>
    <p:extLst>
      <p:ext uri="{BB962C8B-B14F-4D97-AF65-F5344CB8AC3E}">
        <p14:creationId xmlns:p14="http://schemas.microsoft.com/office/powerpoint/2010/main" val="3930314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965C1-C9FB-7ADB-F65D-C3C91A8295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51222-630F-1AB3-DBD9-4ACB727B4353}"/>
              </a:ext>
            </a:extLst>
          </p:cNvPr>
          <p:cNvSpPr>
            <a:spLocks noGrp="1"/>
          </p:cNvSpPr>
          <p:nvPr>
            <p:ph type="title"/>
          </p:nvPr>
        </p:nvSpPr>
        <p:spPr/>
        <p:txBody>
          <a:bodyPr/>
          <a:lstStyle/>
          <a:p>
            <a:pPr algn="ctr"/>
            <a:r>
              <a:rPr lang="en-US">
                <a:ea typeface="+mj-lt"/>
                <a:cs typeface="+mj-lt"/>
              </a:rPr>
              <a:t>Staging Layer</a:t>
            </a:r>
          </a:p>
        </p:txBody>
      </p:sp>
      <p:sp>
        <p:nvSpPr>
          <p:cNvPr id="3" name="Content Placeholder 2">
            <a:extLst>
              <a:ext uri="{FF2B5EF4-FFF2-40B4-BE49-F238E27FC236}">
                <a16:creationId xmlns:a16="http://schemas.microsoft.com/office/drawing/2014/main" id="{4FFE35B4-CC9B-E25C-1665-C10EA62DD70E}"/>
              </a:ext>
            </a:extLst>
          </p:cNvPr>
          <p:cNvSpPr>
            <a:spLocks noGrp="1"/>
          </p:cNvSpPr>
          <p:nvPr>
            <p:ph type="body" sz="quarter" idx="13"/>
          </p:nvPr>
        </p:nvSpPr>
        <p:spPr>
          <a:xfrm>
            <a:off x="1581139" y="2121984"/>
            <a:ext cx="4310125" cy="2779870"/>
          </a:xfrm>
        </p:spPr>
        <p:txBody>
          <a:bodyPr vert="horz" lIns="91440" tIns="45720" rIns="91440" bIns="45720" rtlCol="0" anchor="t">
            <a:normAutofit/>
          </a:bodyPr>
          <a:lstStyle/>
          <a:p>
            <a:pPr marL="0" indent="0">
              <a:buNone/>
            </a:pPr>
            <a:r>
              <a:rPr lang="en-US" sz="2000" b="1">
                <a:ea typeface="+mn-lt"/>
                <a:cs typeface="+mn-lt"/>
              </a:rPr>
              <a:t>Purpose of Staging Layer</a:t>
            </a:r>
            <a:endParaRPr lang="en-US" b="1">
              <a:ea typeface="+mn-lt"/>
              <a:cs typeface="+mn-lt"/>
            </a:endParaRPr>
          </a:p>
          <a:p>
            <a:r>
              <a:rPr lang="en-US">
                <a:ea typeface="+mn-lt"/>
                <a:cs typeface="+mn-lt"/>
              </a:rPr>
              <a:t>Data cleaning</a:t>
            </a:r>
          </a:p>
          <a:p>
            <a:r>
              <a:rPr lang="en-US">
                <a:ea typeface="+mn-lt"/>
                <a:cs typeface="+mn-lt"/>
              </a:rPr>
              <a:t>Standardizing column names</a:t>
            </a:r>
            <a:endParaRPr lang="en-US"/>
          </a:p>
          <a:p>
            <a:r>
              <a:rPr lang="en-US">
                <a:ea typeface="+mn-lt"/>
                <a:cs typeface="+mn-lt"/>
              </a:rPr>
              <a:t>Type conversions</a:t>
            </a:r>
            <a:endParaRPr lang="en-US"/>
          </a:p>
          <a:p>
            <a:r>
              <a:rPr lang="en-US">
                <a:ea typeface="+mn-lt"/>
                <a:cs typeface="+mn-lt"/>
              </a:rPr>
              <a:t>Removing inconsistencies</a:t>
            </a:r>
            <a:endParaRPr lang="en-US"/>
          </a:p>
          <a:p>
            <a:endParaRPr lang="en-US" dirty="0">
              <a:cs typeface="Poppins Light"/>
            </a:endParaRPr>
          </a:p>
          <a:p>
            <a:endParaRPr lang="en-US" dirty="0">
              <a:cs typeface="Poppins Light"/>
            </a:endParaRPr>
          </a:p>
        </p:txBody>
      </p:sp>
      <p:sp>
        <p:nvSpPr>
          <p:cNvPr id="4" name="Text Placeholder 3">
            <a:extLst>
              <a:ext uri="{FF2B5EF4-FFF2-40B4-BE49-F238E27FC236}">
                <a16:creationId xmlns:a16="http://schemas.microsoft.com/office/drawing/2014/main" id="{0FB0F464-7EC1-FDAB-70AD-9CB375A59363}"/>
              </a:ext>
            </a:extLst>
          </p:cNvPr>
          <p:cNvSpPr>
            <a:spLocks noGrp="1"/>
          </p:cNvSpPr>
          <p:nvPr>
            <p:ph type="body" sz="quarter" idx="15"/>
          </p:nvPr>
        </p:nvSpPr>
        <p:spPr>
          <a:xfrm>
            <a:off x="7686540" y="2121192"/>
            <a:ext cx="3255851" cy="2633733"/>
          </a:xfrm>
        </p:spPr>
        <p:txBody>
          <a:bodyPr vert="horz" lIns="91440" tIns="45720" rIns="91440" bIns="45720" rtlCol="0" anchor="t">
            <a:normAutofit/>
          </a:bodyPr>
          <a:lstStyle/>
          <a:p>
            <a:pPr marL="0" indent="0">
              <a:buNone/>
            </a:pPr>
            <a:r>
              <a:rPr lang="en-US" sz="2000" b="1">
                <a:cs typeface="Poppins Light"/>
              </a:rPr>
              <a:t>Example tables:</a:t>
            </a:r>
            <a:endParaRPr lang="en-US" sz="2000">
              <a:cs typeface="Poppins Light"/>
            </a:endParaRPr>
          </a:p>
          <a:p>
            <a:r>
              <a:rPr lang="en-US" dirty="0" err="1">
                <a:cs typeface="Poppins Light"/>
              </a:rPr>
              <a:t>stg_donors</a:t>
            </a:r>
            <a:endParaRPr lang="en-US" dirty="0">
              <a:cs typeface="Poppins Light"/>
            </a:endParaRPr>
          </a:p>
          <a:p>
            <a:r>
              <a:rPr lang="en-US" dirty="0" err="1">
                <a:cs typeface="Poppins Light"/>
              </a:rPr>
              <a:t>stg_donations</a:t>
            </a:r>
            <a:endParaRPr lang="en-US" dirty="0">
              <a:cs typeface="Poppins Light"/>
            </a:endParaRPr>
          </a:p>
          <a:p>
            <a:r>
              <a:rPr lang="en-US" dirty="0" err="1">
                <a:cs typeface="Poppins Light"/>
              </a:rPr>
              <a:t>stg_recipients</a:t>
            </a:r>
            <a:endParaRPr lang="en-US" dirty="0">
              <a:cs typeface="Poppins Light"/>
            </a:endParaRPr>
          </a:p>
          <a:p>
            <a:r>
              <a:rPr lang="en-US" dirty="0" err="1">
                <a:cs typeface="Poppins Light"/>
              </a:rPr>
              <a:t>stg_blood_tests</a:t>
            </a:r>
            <a:endParaRPr lang="en-US" dirty="0">
              <a:cs typeface="Poppins Light"/>
            </a:endParaRPr>
          </a:p>
          <a:p>
            <a:endParaRPr lang="en-US" dirty="0">
              <a:cs typeface="Poppins Light"/>
            </a:endParaRPr>
          </a:p>
        </p:txBody>
      </p:sp>
    </p:spTree>
    <p:extLst>
      <p:ext uri="{BB962C8B-B14F-4D97-AF65-F5344CB8AC3E}">
        <p14:creationId xmlns:p14="http://schemas.microsoft.com/office/powerpoint/2010/main" val="118423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301BC-B4F4-ED00-DD07-9E317E9F78BE}"/>
            </a:ext>
          </a:extLst>
        </p:cNvPr>
        <p:cNvGrpSpPr/>
        <p:nvPr/>
      </p:nvGrpSpPr>
      <p:grpSpPr>
        <a:xfrm>
          <a:off x="0" y="0"/>
          <a:ext cx="0" cy="0"/>
          <a:chOff x="0" y="0"/>
          <a:chExt cx="0" cy="0"/>
        </a:xfrm>
      </p:grpSpPr>
      <p:pic>
        <p:nvPicPr>
          <p:cNvPr id="16" name="Picture 15" descr="A screenshot of a computer">
            <a:extLst>
              <a:ext uri="{FF2B5EF4-FFF2-40B4-BE49-F238E27FC236}">
                <a16:creationId xmlns:a16="http://schemas.microsoft.com/office/drawing/2014/main" id="{87F6476B-ED4E-04A0-6EAB-AAE281818E81}"/>
              </a:ext>
            </a:extLst>
          </p:cNvPr>
          <p:cNvPicPr>
            <a:picLocks noChangeAspect="1"/>
          </p:cNvPicPr>
          <p:nvPr/>
        </p:nvPicPr>
        <p:blipFill>
          <a:blip r:embed="rId2"/>
          <a:stretch>
            <a:fillRect/>
          </a:stretch>
        </p:blipFill>
        <p:spPr>
          <a:xfrm>
            <a:off x="4755848" y="501569"/>
            <a:ext cx="7435305" cy="6124937"/>
          </a:xfrm>
          <a:prstGeom prst="rect">
            <a:avLst/>
          </a:prstGeom>
        </p:spPr>
      </p:pic>
      <p:sp>
        <p:nvSpPr>
          <p:cNvPr id="17" name="TextBox 16">
            <a:extLst>
              <a:ext uri="{FF2B5EF4-FFF2-40B4-BE49-F238E27FC236}">
                <a16:creationId xmlns:a16="http://schemas.microsoft.com/office/drawing/2014/main" id="{42A75859-D989-5883-CA67-CD4306F5C845}"/>
              </a:ext>
            </a:extLst>
          </p:cNvPr>
          <p:cNvSpPr txBox="1"/>
          <p:nvPr/>
        </p:nvSpPr>
        <p:spPr>
          <a:xfrm>
            <a:off x="327949" y="2642886"/>
            <a:ext cx="414759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Poppins Light"/>
              </a:rPr>
              <a:t>Data Model ER Diagram</a:t>
            </a:r>
            <a:endParaRPr lang="en-US" sz="2400" b="1">
              <a:ea typeface="+mn-lt"/>
              <a:cs typeface="+mn-lt"/>
            </a:endParaRPr>
          </a:p>
          <a:p>
            <a:r>
              <a:rPr lang="en-US" sz="2400" b="1">
                <a:ea typeface="+mn-lt"/>
                <a:cs typeface="+mn-lt"/>
              </a:rPr>
              <a:t> (Fact + Dimension)</a:t>
            </a:r>
          </a:p>
          <a:p>
            <a:endParaRPr lang="en-US" sz="2400" b="1" dirty="0">
              <a:cs typeface="Poppins Light"/>
            </a:endParaRPr>
          </a:p>
          <a:p>
            <a:endParaRPr lang="en-US" sz="2400" b="1" dirty="0">
              <a:cs typeface="Poppins Light"/>
            </a:endParaRPr>
          </a:p>
        </p:txBody>
      </p:sp>
    </p:spTree>
    <p:extLst>
      <p:ext uri="{BB962C8B-B14F-4D97-AF65-F5344CB8AC3E}">
        <p14:creationId xmlns:p14="http://schemas.microsoft.com/office/powerpoint/2010/main" val="2945815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9F9D5-7B41-BEA8-EBCE-A22A4F4D9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B1CD9-BD56-E3AD-5BD4-C2E898E478C6}"/>
              </a:ext>
            </a:extLst>
          </p:cNvPr>
          <p:cNvSpPr>
            <a:spLocks noGrp="1"/>
          </p:cNvSpPr>
          <p:nvPr>
            <p:ph type="title"/>
          </p:nvPr>
        </p:nvSpPr>
        <p:spPr>
          <a:xfrm>
            <a:off x="1462491" y="1718952"/>
            <a:ext cx="7612657" cy="2538360"/>
          </a:xfrm>
        </p:spPr>
        <p:txBody>
          <a:bodyPr>
            <a:normAutofit/>
          </a:bodyPr>
          <a:lstStyle/>
          <a:p>
            <a:r>
              <a:rPr lang="en-US" sz="4500"/>
              <a:t>Analytical layer</a:t>
            </a:r>
            <a:endParaRPr lang="en-US" sz="4500" dirty="0"/>
          </a:p>
        </p:txBody>
      </p:sp>
      <p:sp>
        <p:nvSpPr>
          <p:cNvPr id="3" name="Subtitle 2">
            <a:extLst>
              <a:ext uri="{FF2B5EF4-FFF2-40B4-BE49-F238E27FC236}">
                <a16:creationId xmlns:a16="http://schemas.microsoft.com/office/drawing/2014/main" id="{89CADDB1-92E4-A15A-F526-376E4D96C34A}"/>
              </a:ext>
            </a:extLst>
          </p:cNvPr>
          <p:cNvSpPr>
            <a:spLocks noGrp="1"/>
          </p:cNvSpPr>
          <p:nvPr>
            <p:ph type="body" sz="quarter" idx="13"/>
          </p:nvPr>
        </p:nvSpPr>
        <p:spPr>
          <a:xfrm>
            <a:off x="8819198" y="4902800"/>
            <a:ext cx="3024899" cy="1291545"/>
          </a:xfrm>
        </p:spPr>
        <p:txBody>
          <a:bodyPr vert="horz" lIns="91440" tIns="45720" rIns="91440" bIns="45720" rtlCol="0" anchor="t">
            <a:noAutofit/>
          </a:bodyPr>
          <a:lstStyle/>
          <a:p>
            <a:pPr>
              <a:lnSpc>
                <a:spcPct val="100000"/>
              </a:lnSpc>
            </a:pPr>
            <a:endParaRPr lang="en-US" sz="1500" dirty="0">
              <a:cs typeface="Poppins Light"/>
            </a:endParaRPr>
          </a:p>
          <a:p>
            <a:pPr>
              <a:lnSpc>
                <a:spcPct val="100000"/>
              </a:lnSpc>
            </a:pPr>
            <a:endParaRPr lang="en-US" sz="1500" dirty="0">
              <a:cs typeface="Poppins Light"/>
            </a:endParaRPr>
          </a:p>
        </p:txBody>
      </p:sp>
    </p:spTree>
    <p:extLst>
      <p:ext uri="{BB962C8B-B14F-4D97-AF65-F5344CB8AC3E}">
        <p14:creationId xmlns:p14="http://schemas.microsoft.com/office/powerpoint/2010/main" val="2879837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73F23-4F13-D20E-EC1B-ABEC58BC6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EE398D-1468-7701-2933-90E7DC3814D0}"/>
              </a:ext>
            </a:extLst>
          </p:cNvPr>
          <p:cNvSpPr>
            <a:spLocks noGrp="1"/>
          </p:cNvSpPr>
          <p:nvPr>
            <p:ph type="title"/>
          </p:nvPr>
        </p:nvSpPr>
        <p:spPr>
          <a:xfrm>
            <a:off x="410671" y="526396"/>
            <a:ext cx="8467558" cy="755758"/>
          </a:xfrm>
        </p:spPr>
        <p:txBody>
          <a:bodyPr/>
          <a:lstStyle/>
          <a:p>
            <a:r>
              <a:rPr lang="en-US">
                <a:ea typeface="+mj-lt"/>
                <a:cs typeface="+mj-lt"/>
              </a:rPr>
              <a:t>DIMENSION Tables</a:t>
            </a:r>
            <a:endParaRPr lang="en-US"/>
          </a:p>
        </p:txBody>
      </p:sp>
      <p:sp>
        <p:nvSpPr>
          <p:cNvPr id="3" name="Content Placeholder 2">
            <a:extLst>
              <a:ext uri="{FF2B5EF4-FFF2-40B4-BE49-F238E27FC236}">
                <a16:creationId xmlns:a16="http://schemas.microsoft.com/office/drawing/2014/main" id="{39915521-4BA6-EA43-288D-DAF3B8332FB5}"/>
              </a:ext>
            </a:extLst>
          </p:cNvPr>
          <p:cNvSpPr>
            <a:spLocks noGrp="1"/>
          </p:cNvSpPr>
          <p:nvPr>
            <p:ph sz="quarter" idx="13"/>
          </p:nvPr>
        </p:nvSpPr>
        <p:spPr>
          <a:xfrm>
            <a:off x="410671" y="1636125"/>
            <a:ext cx="9110208" cy="761259"/>
          </a:xfrm>
        </p:spPr>
        <p:txBody>
          <a:bodyPr vert="horz" lIns="91440" tIns="45720" rIns="91440" bIns="45720" rtlCol="0" anchor="t">
            <a:normAutofit fontScale="92500" lnSpcReduction="20000"/>
          </a:bodyPr>
          <a:lstStyle/>
          <a:p>
            <a:pPr>
              <a:buNone/>
            </a:pPr>
            <a:r>
              <a:rPr lang="en-US" sz="1500">
                <a:ea typeface="+mn-lt"/>
                <a:cs typeface="+mn-lt"/>
              </a:rPr>
              <a:t>Dimension tables store </a:t>
            </a:r>
            <a:r>
              <a:rPr lang="en-US" sz="1500" b="1">
                <a:ea typeface="+mn-lt"/>
                <a:cs typeface="+mn-lt"/>
              </a:rPr>
              <a:t>descriptive attributes</a:t>
            </a:r>
            <a:r>
              <a:rPr lang="en-US" sz="1500">
                <a:ea typeface="+mn-lt"/>
                <a:cs typeface="+mn-lt"/>
              </a:rPr>
              <a:t> that provide context to fact data.</a:t>
            </a:r>
            <a:endParaRPr lang="en-US"/>
          </a:p>
          <a:p>
            <a:pPr>
              <a:buNone/>
            </a:pPr>
            <a:r>
              <a:rPr lang="en-US" sz="1500">
                <a:ea typeface="+mn-lt"/>
                <a:cs typeface="+mn-lt"/>
              </a:rPr>
              <a:t>They allow analysts to </a:t>
            </a:r>
            <a:r>
              <a:rPr lang="en-US" sz="1500" b="1">
                <a:ea typeface="+mn-lt"/>
                <a:cs typeface="+mn-lt"/>
              </a:rPr>
              <a:t>filter, group, and categorize</a:t>
            </a:r>
            <a:r>
              <a:rPr lang="en-US" sz="1500">
                <a:ea typeface="+mn-lt"/>
                <a:cs typeface="+mn-lt"/>
              </a:rPr>
              <a:t> facts.</a:t>
            </a:r>
            <a:endParaRPr lang="en-US">
              <a:ea typeface="+mn-lt"/>
              <a:cs typeface="+mn-lt"/>
            </a:endParaRPr>
          </a:p>
          <a:p>
            <a:pPr marL="0" indent="0">
              <a:buNone/>
            </a:pPr>
            <a:endParaRPr lang="en-US" sz="1500" dirty="0">
              <a:ea typeface="+mn-lt"/>
              <a:cs typeface="+mn-lt"/>
            </a:endParaRPr>
          </a:p>
          <a:p>
            <a:pPr marL="0" indent="0">
              <a:buNone/>
            </a:pPr>
            <a:endParaRPr lang="en-US" sz="1600" dirty="0">
              <a:cs typeface="Poppins Light"/>
            </a:endParaRPr>
          </a:p>
        </p:txBody>
      </p:sp>
      <p:sp>
        <p:nvSpPr>
          <p:cNvPr id="4" name="TextBox 3">
            <a:extLst>
              <a:ext uri="{FF2B5EF4-FFF2-40B4-BE49-F238E27FC236}">
                <a16:creationId xmlns:a16="http://schemas.microsoft.com/office/drawing/2014/main" id="{AAAC7D57-CB0E-AB12-350D-0B616C05498D}"/>
              </a:ext>
            </a:extLst>
          </p:cNvPr>
          <p:cNvSpPr txBox="1"/>
          <p:nvPr/>
        </p:nvSpPr>
        <p:spPr>
          <a:xfrm>
            <a:off x="413945" y="2848116"/>
            <a:ext cx="6153873" cy="22653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500" b="1" dirty="0">
                <a:ea typeface="+mn-lt"/>
                <a:cs typeface="+mn-lt"/>
              </a:rPr>
              <a:t>Dimension tables typically </a:t>
            </a:r>
            <a:r>
              <a:rPr lang="en-US" sz="1500" b="1">
                <a:ea typeface="+mn-lt"/>
                <a:cs typeface="+mn-lt"/>
              </a:rPr>
              <a:t>contain </a:t>
            </a:r>
            <a:r>
              <a:rPr lang="en-US" sz="1500" b="1" dirty="0">
                <a:ea typeface="+mn-lt"/>
                <a:cs typeface="+mn-lt"/>
              </a:rPr>
              <a:t>:</a:t>
            </a:r>
            <a:endParaRPr lang="en-US" b="1" dirty="0">
              <a:ea typeface="+mn-lt"/>
              <a:cs typeface="+mn-lt"/>
            </a:endParaRPr>
          </a:p>
          <a:p>
            <a:pPr marL="285750" indent="-285750">
              <a:lnSpc>
                <a:spcPct val="150000"/>
              </a:lnSpc>
              <a:buFont typeface="Arial"/>
              <a:buChar char="•"/>
            </a:pPr>
            <a:r>
              <a:rPr lang="en-US" sz="1500" b="1">
                <a:ea typeface="+mn-lt"/>
                <a:cs typeface="+mn-lt"/>
              </a:rPr>
              <a:t>Descriptive attributes</a:t>
            </a:r>
            <a:r>
              <a:rPr lang="en-US" sz="1500">
                <a:ea typeface="+mn-lt"/>
                <a:cs typeface="+mn-lt"/>
              </a:rPr>
              <a:t> (name, category, location, etc.)</a:t>
            </a:r>
            <a:endParaRPr lang="en-US">
              <a:cs typeface="Poppins Light"/>
            </a:endParaRPr>
          </a:p>
          <a:p>
            <a:pPr marL="285750" indent="-285750">
              <a:lnSpc>
                <a:spcPct val="150000"/>
              </a:lnSpc>
              <a:buFont typeface="Arial"/>
              <a:buChar char="•"/>
            </a:pPr>
            <a:r>
              <a:rPr lang="en-US" sz="1500" b="1">
                <a:ea typeface="+mn-lt"/>
                <a:cs typeface="+mn-lt"/>
              </a:rPr>
              <a:t>Primary key</a:t>
            </a:r>
            <a:r>
              <a:rPr lang="en-US" sz="1500">
                <a:ea typeface="+mn-lt"/>
                <a:cs typeface="+mn-lt"/>
              </a:rPr>
              <a:t> used to join with fact tables</a:t>
            </a:r>
            <a:endParaRPr lang="en-US">
              <a:cs typeface="Poppins Light"/>
            </a:endParaRPr>
          </a:p>
          <a:p>
            <a:pPr marL="285750" indent="-285750">
              <a:lnSpc>
                <a:spcPct val="150000"/>
              </a:lnSpc>
              <a:buFont typeface="Arial"/>
              <a:buChar char="•"/>
            </a:pPr>
            <a:r>
              <a:rPr lang="en-US" sz="1500" b="1">
                <a:ea typeface="+mn-lt"/>
                <a:cs typeface="+mn-lt"/>
              </a:rPr>
              <a:t>Slowly changing attributes</a:t>
            </a:r>
            <a:r>
              <a:rPr lang="en-US" sz="1500">
                <a:ea typeface="+mn-lt"/>
                <a:cs typeface="+mn-lt"/>
              </a:rPr>
              <a:t> (e.g., address changes)</a:t>
            </a:r>
            <a:endParaRPr lang="en-US">
              <a:cs typeface="Poppins Light"/>
            </a:endParaRPr>
          </a:p>
          <a:p>
            <a:pPr>
              <a:lnSpc>
                <a:spcPct val="150000"/>
              </a:lnSpc>
              <a:spcBef>
                <a:spcPts val="1000"/>
              </a:spcBef>
            </a:pPr>
            <a:endParaRPr lang="en-US" sz="1500" dirty="0">
              <a:cs typeface="Poppins Light"/>
            </a:endParaRPr>
          </a:p>
          <a:p>
            <a:pPr algn="l">
              <a:lnSpc>
                <a:spcPct val="150000"/>
              </a:lnSpc>
            </a:pPr>
            <a:endParaRPr lang="en-US" sz="1500" dirty="0">
              <a:cs typeface="Poppins Light"/>
            </a:endParaRPr>
          </a:p>
        </p:txBody>
      </p:sp>
      <p:sp>
        <p:nvSpPr>
          <p:cNvPr id="5" name="TextBox 4">
            <a:extLst>
              <a:ext uri="{FF2B5EF4-FFF2-40B4-BE49-F238E27FC236}">
                <a16:creationId xmlns:a16="http://schemas.microsoft.com/office/drawing/2014/main" id="{E8862E67-BFF4-8F92-C92A-ABAB121C30E3}"/>
              </a:ext>
            </a:extLst>
          </p:cNvPr>
          <p:cNvSpPr txBox="1"/>
          <p:nvPr/>
        </p:nvSpPr>
        <p:spPr>
          <a:xfrm>
            <a:off x="409762" y="4812093"/>
            <a:ext cx="7664624"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ea typeface="+mn-lt"/>
                <a:cs typeface="+mn-lt"/>
              </a:rPr>
              <a:t>In this data warehouse, Dimension tables store </a:t>
            </a:r>
            <a:r>
              <a:rPr lang="en-US" sz="1500" b="1">
                <a:ea typeface="+mn-lt"/>
                <a:cs typeface="+mn-lt"/>
              </a:rPr>
              <a:t>descriptive attributes</a:t>
            </a:r>
            <a:r>
              <a:rPr lang="en-US" sz="1500">
                <a:ea typeface="+mn-lt"/>
                <a:cs typeface="+mn-lt"/>
              </a:rPr>
              <a:t> that provide context to the </a:t>
            </a:r>
            <a:r>
              <a:rPr lang="en-US" sz="1500" b="1">
                <a:ea typeface="+mn-lt"/>
                <a:cs typeface="+mn-lt"/>
              </a:rPr>
              <a:t>events </a:t>
            </a:r>
            <a:r>
              <a:rPr lang="en-US" sz="1500">
                <a:ea typeface="+mn-lt"/>
                <a:cs typeface="+mn-lt"/>
              </a:rPr>
              <a:t>recorded in fact tables.</a:t>
            </a:r>
            <a:endParaRPr lang="en-US" sz="1500">
              <a:cs typeface="Poppins Light"/>
            </a:endParaRPr>
          </a:p>
        </p:txBody>
      </p:sp>
    </p:spTree>
    <p:extLst>
      <p:ext uri="{BB962C8B-B14F-4D97-AF65-F5344CB8AC3E}">
        <p14:creationId xmlns:p14="http://schemas.microsoft.com/office/powerpoint/2010/main" val="2385796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112D4-70A7-3AEF-7528-4F5114BEF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EC914-6F36-CF60-45AC-171B95B6CECF}"/>
              </a:ext>
            </a:extLst>
          </p:cNvPr>
          <p:cNvSpPr>
            <a:spLocks noGrp="1"/>
          </p:cNvSpPr>
          <p:nvPr>
            <p:ph type="title"/>
          </p:nvPr>
        </p:nvSpPr>
        <p:spPr>
          <a:xfrm>
            <a:off x="410671" y="526396"/>
            <a:ext cx="8467558" cy="755758"/>
          </a:xfrm>
        </p:spPr>
        <p:txBody>
          <a:bodyPr>
            <a:normAutofit/>
          </a:bodyPr>
          <a:lstStyle/>
          <a:p>
            <a:r>
              <a:rPr lang="en-US" sz="3000">
                <a:latin typeface="Lora"/>
                <a:ea typeface="+mj-lt"/>
                <a:cs typeface="Poppins Light"/>
              </a:rPr>
              <a:t>dimensions</a:t>
            </a:r>
            <a:r>
              <a:rPr lang="en-US" sz="3000" dirty="0">
                <a:latin typeface="Lora"/>
                <a:ea typeface="+mj-lt"/>
                <a:cs typeface="Poppins Light"/>
              </a:rPr>
              <a:t> Implemented</a:t>
            </a:r>
            <a:endParaRPr lang="en-US" sz="3000" dirty="0">
              <a:latin typeface="Lora"/>
              <a:cs typeface="Poppins Light"/>
            </a:endParaRPr>
          </a:p>
        </p:txBody>
      </p:sp>
      <p:sp>
        <p:nvSpPr>
          <p:cNvPr id="3" name="Content Placeholder 2">
            <a:extLst>
              <a:ext uri="{FF2B5EF4-FFF2-40B4-BE49-F238E27FC236}">
                <a16:creationId xmlns:a16="http://schemas.microsoft.com/office/drawing/2014/main" id="{016A2D21-C6AC-EB7F-7CD7-000BCC3DB17B}"/>
              </a:ext>
            </a:extLst>
          </p:cNvPr>
          <p:cNvSpPr>
            <a:spLocks noGrp="1"/>
          </p:cNvSpPr>
          <p:nvPr>
            <p:ph sz="quarter" idx="13"/>
          </p:nvPr>
        </p:nvSpPr>
        <p:spPr>
          <a:xfrm>
            <a:off x="410671" y="1461691"/>
            <a:ext cx="9110208" cy="1963933"/>
          </a:xfrm>
        </p:spPr>
        <p:txBody>
          <a:bodyPr vert="horz" lIns="91440" tIns="45720" rIns="91440" bIns="45720" rtlCol="0" anchor="t">
            <a:noAutofit/>
          </a:bodyPr>
          <a:lstStyle/>
          <a:p>
            <a:pPr marL="285750" indent="-285750">
              <a:lnSpc>
                <a:spcPct val="100000"/>
              </a:lnSpc>
              <a:buFont typeface="Arial"/>
              <a:buChar char="•"/>
            </a:pPr>
            <a:r>
              <a:rPr lang="en-US" sz="1600" dirty="0" err="1">
                <a:cs typeface="Poppins Light"/>
              </a:rPr>
              <a:t>dim_donor</a:t>
            </a:r>
            <a:endParaRPr lang="en-US" sz="1600">
              <a:cs typeface="Poppins Light"/>
            </a:endParaRPr>
          </a:p>
          <a:p>
            <a:pPr marL="285750" indent="-285750">
              <a:lnSpc>
                <a:spcPct val="100000"/>
              </a:lnSpc>
              <a:buFont typeface="Arial"/>
              <a:buChar char="•"/>
            </a:pPr>
            <a:r>
              <a:rPr lang="en-US" sz="1600" dirty="0" err="1">
                <a:cs typeface="Poppins Light"/>
              </a:rPr>
              <a:t>dim_recipients</a:t>
            </a:r>
            <a:endParaRPr lang="en-US" sz="1600">
              <a:cs typeface="Poppins Light"/>
            </a:endParaRPr>
          </a:p>
          <a:p>
            <a:pPr marL="285750" indent="-285750">
              <a:lnSpc>
                <a:spcPct val="100000"/>
              </a:lnSpc>
              <a:buFont typeface="Arial"/>
              <a:buChar char="•"/>
            </a:pPr>
            <a:r>
              <a:rPr lang="en-US" sz="1600" err="1">
                <a:cs typeface="Poppins Light"/>
              </a:rPr>
              <a:t>dim_hospitals</a:t>
            </a:r>
            <a:endParaRPr lang="en-US" sz="1600">
              <a:cs typeface="Poppins Light"/>
            </a:endParaRPr>
          </a:p>
          <a:p>
            <a:pPr marL="285750" indent="-285750">
              <a:lnSpc>
                <a:spcPct val="100000"/>
              </a:lnSpc>
              <a:buFont typeface="Arial"/>
              <a:buChar char="•"/>
            </a:pPr>
            <a:r>
              <a:rPr lang="en-US" sz="1600" dirty="0" err="1">
                <a:cs typeface="Poppins Light"/>
              </a:rPr>
              <a:t>dim_date</a:t>
            </a:r>
          </a:p>
        </p:txBody>
      </p:sp>
      <p:sp>
        <p:nvSpPr>
          <p:cNvPr id="5" name="TextBox 4">
            <a:extLst>
              <a:ext uri="{FF2B5EF4-FFF2-40B4-BE49-F238E27FC236}">
                <a16:creationId xmlns:a16="http://schemas.microsoft.com/office/drawing/2014/main" id="{5D59C09B-F27F-B7EE-5802-4C2FD0892812}"/>
              </a:ext>
            </a:extLst>
          </p:cNvPr>
          <p:cNvSpPr txBox="1"/>
          <p:nvPr/>
        </p:nvSpPr>
        <p:spPr>
          <a:xfrm>
            <a:off x="409762" y="3545152"/>
            <a:ext cx="7664624" cy="24833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endParaRPr lang="en-US" sz="3000" dirty="0">
              <a:latin typeface="Lora"/>
            </a:endParaRPr>
          </a:p>
          <a:p>
            <a:pPr marL="285750" indent="-285750">
              <a:lnSpc>
                <a:spcPct val="150000"/>
              </a:lnSpc>
              <a:buFont typeface="Arial"/>
              <a:buChar char="•"/>
            </a:pPr>
            <a:r>
              <a:rPr lang="en-US" sz="1500">
                <a:ea typeface="+mn-lt"/>
                <a:cs typeface="+mn-lt"/>
              </a:rPr>
              <a:t>The warehouse uses </a:t>
            </a:r>
            <a:r>
              <a:rPr lang="en-US" sz="1500" b="1">
                <a:ea typeface="+mn-lt"/>
                <a:cs typeface="+mn-lt"/>
              </a:rPr>
              <a:t>Slowly Changing Dimensions (SCD Type 2)</a:t>
            </a:r>
            <a:r>
              <a:rPr lang="en-US" sz="1500">
                <a:ea typeface="+mn-lt"/>
                <a:cs typeface="+mn-lt"/>
              </a:rPr>
              <a:t>.</a:t>
            </a:r>
            <a:endParaRPr lang="en-US" sz="1500" dirty="0">
              <a:cs typeface="Poppins Light"/>
            </a:endParaRPr>
          </a:p>
          <a:p>
            <a:pPr marL="285750" indent="-285750">
              <a:lnSpc>
                <a:spcPct val="150000"/>
              </a:lnSpc>
              <a:buFont typeface="Arial"/>
              <a:buChar char="•"/>
            </a:pPr>
            <a:r>
              <a:rPr lang="en-US" sz="1500">
                <a:ea typeface="+mn-lt"/>
                <a:cs typeface="+mn-lt"/>
              </a:rPr>
              <a:t>This approach allows the system to </a:t>
            </a:r>
            <a:r>
              <a:rPr lang="en-US" sz="1500" b="1">
                <a:ea typeface="+mn-lt"/>
                <a:cs typeface="+mn-lt"/>
              </a:rPr>
              <a:t>track historical changes in dimension attributes</a:t>
            </a:r>
            <a:r>
              <a:rPr lang="en-US" sz="1500">
                <a:ea typeface="+mn-lt"/>
                <a:cs typeface="+mn-lt"/>
              </a:rPr>
              <a:t>.</a:t>
            </a:r>
            <a:endParaRPr lang="en-US">
              <a:cs typeface="Poppins Light"/>
            </a:endParaRPr>
          </a:p>
          <a:p>
            <a:pPr marL="285750" indent="-285750">
              <a:lnSpc>
                <a:spcPct val="150000"/>
              </a:lnSpc>
              <a:buFont typeface="Arial"/>
              <a:buChar char="•"/>
            </a:pPr>
            <a:endParaRPr lang="en-US" sz="1500" dirty="0">
              <a:cs typeface="Poppins Light"/>
            </a:endParaRPr>
          </a:p>
          <a:p>
            <a:pPr algn="l">
              <a:lnSpc>
                <a:spcPct val="150000"/>
              </a:lnSpc>
            </a:pPr>
            <a:endParaRPr lang="en-US" sz="1500" dirty="0">
              <a:cs typeface="Poppins Light"/>
            </a:endParaRPr>
          </a:p>
        </p:txBody>
      </p:sp>
      <p:sp>
        <p:nvSpPr>
          <p:cNvPr id="7" name="TextBox 6">
            <a:extLst>
              <a:ext uri="{FF2B5EF4-FFF2-40B4-BE49-F238E27FC236}">
                <a16:creationId xmlns:a16="http://schemas.microsoft.com/office/drawing/2014/main" id="{86A8B1C7-0D80-89F4-072C-889CAAE04468}"/>
              </a:ext>
            </a:extLst>
          </p:cNvPr>
          <p:cNvSpPr txBox="1"/>
          <p:nvPr/>
        </p:nvSpPr>
        <p:spPr>
          <a:xfrm>
            <a:off x="411273" y="3544340"/>
            <a:ext cx="709228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latin typeface="Lora"/>
                <a:ea typeface="+mn-lt"/>
                <a:cs typeface="+mn-lt"/>
              </a:rPr>
              <a:t>DIMENSION DESIGN STRATEGY</a:t>
            </a:r>
            <a:endParaRPr lang="en-US"/>
          </a:p>
          <a:p>
            <a:endParaRPr lang="en-US" dirty="0">
              <a:cs typeface="Poppins Light"/>
            </a:endParaRPr>
          </a:p>
        </p:txBody>
      </p:sp>
    </p:spTree>
    <p:extLst>
      <p:ext uri="{BB962C8B-B14F-4D97-AF65-F5344CB8AC3E}">
        <p14:creationId xmlns:p14="http://schemas.microsoft.com/office/powerpoint/2010/main" val="1348888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360D7-F74C-CD9E-C576-1CB8FFE8778E}"/>
              </a:ext>
            </a:extLst>
          </p:cNvPr>
          <p:cNvSpPr>
            <a:spLocks noGrp="1"/>
          </p:cNvSpPr>
          <p:nvPr>
            <p:ph type="title"/>
          </p:nvPr>
        </p:nvSpPr>
        <p:spPr>
          <a:xfrm>
            <a:off x="410671" y="526396"/>
            <a:ext cx="8467558" cy="755758"/>
          </a:xfrm>
        </p:spPr>
        <p:txBody>
          <a:bodyPr/>
          <a:lstStyle/>
          <a:p>
            <a:r>
              <a:rPr lang="en-US">
                <a:ea typeface="+mj-lt"/>
                <a:cs typeface="+mj-lt"/>
              </a:rPr>
              <a:t>Fact Tables</a:t>
            </a:r>
            <a:endParaRPr lang="en-US"/>
          </a:p>
        </p:txBody>
      </p:sp>
      <p:sp>
        <p:nvSpPr>
          <p:cNvPr id="3" name="Content Placeholder 2">
            <a:extLst>
              <a:ext uri="{FF2B5EF4-FFF2-40B4-BE49-F238E27FC236}">
                <a16:creationId xmlns:a16="http://schemas.microsoft.com/office/drawing/2014/main" id="{E2B146A8-4B7E-1896-D200-17AA855AD220}"/>
              </a:ext>
            </a:extLst>
          </p:cNvPr>
          <p:cNvSpPr>
            <a:spLocks noGrp="1"/>
          </p:cNvSpPr>
          <p:nvPr>
            <p:ph sz="quarter" idx="13"/>
          </p:nvPr>
        </p:nvSpPr>
        <p:spPr>
          <a:xfrm>
            <a:off x="410671" y="1636125"/>
            <a:ext cx="9110208" cy="761259"/>
          </a:xfrm>
        </p:spPr>
        <p:txBody>
          <a:bodyPr vert="horz" lIns="91440" tIns="45720" rIns="91440" bIns="45720" rtlCol="0" anchor="t">
            <a:normAutofit/>
          </a:bodyPr>
          <a:lstStyle/>
          <a:p>
            <a:pPr marL="0" indent="0">
              <a:buNone/>
            </a:pPr>
            <a:r>
              <a:rPr lang="en-US" sz="1500" dirty="0">
                <a:ea typeface="+mn-lt"/>
                <a:cs typeface="+mn-lt"/>
              </a:rPr>
              <a:t>Fact tables capture </a:t>
            </a:r>
            <a:r>
              <a:rPr lang="en-US" sz="1500" b="1" dirty="0">
                <a:ea typeface="+mn-lt"/>
                <a:cs typeface="+mn-lt"/>
              </a:rPr>
              <a:t>measurable business events</a:t>
            </a:r>
            <a:r>
              <a:rPr lang="en-US" sz="1500" dirty="0">
                <a:ea typeface="+mn-lt"/>
                <a:cs typeface="+mn-lt"/>
              </a:rPr>
              <a:t> </a:t>
            </a:r>
            <a:r>
              <a:rPr lang="en-US" sz="1500">
                <a:ea typeface="+mn-lt"/>
                <a:cs typeface="+mn-lt"/>
              </a:rPr>
              <a:t>occurring in the system.</a:t>
            </a:r>
            <a:br>
              <a:rPr lang="en-US" sz="1500" dirty="0">
                <a:ea typeface="+mn-lt"/>
                <a:cs typeface="+mn-lt"/>
              </a:rPr>
            </a:br>
            <a:r>
              <a:rPr lang="en-US" sz="1500">
                <a:ea typeface="+mn-lt"/>
                <a:cs typeface="+mn-lt"/>
              </a:rPr>
              <a:t>They store transactional data and connect to dimension tables through </a:t>
            </a:r>
            <a:r>
              <a:rPr lang="en-US" sz="1500" b="1">
                <a:ea typeface="+mn-lt"/>
                <a:cs typeface="+mn-lt"/>
              </a:rPr>
              <a:t>foreign keys</a:t>
            </a:r>
            <a:r>
              <a:rPr lang="en-US" sz="1500">
                <a:ea typeface="+mn-lt"/>
                <a:cs typeface="+mn-lt"/>
              </a:rPr>
              <a:t>.</a:t>
            </a:r>
          </a:p>
          <a:p>
            <a:pPr marL="0" indent="0">
              <a:buNone/>
            </a:pPr>
            <a:endParaRPr lang="en-US" sz="1600" dirty="0">
              <a:cs typeface="Poppins Light"/>
            </a:endParaRPr>
          </a:p>
        </p:txBody>
      </p:sp>
      <p:sp>
        <p:nvSpPr>
          <p:cNvPr id="4" name="TextBox 3">
            <a:extLst>
              <a:ext uri="{FF2B5EF4-FFF2-40B4-BE49-F238E27FC236}">
                <a16:creationId xmlns:a16="http://schemas.microsoft.com/office/drawing/2014/main" id="{EACA1127-B8D3-1F6E-0EDC-24FF7A756561}"/>
              </a:ext>
            </a:extLst>
          </p:cNvPr>
          <p:cNvSpPr txBox="1"/>
          <p:nvPr/>
        </p:nvSpPr>
        <p:spPr>
          <a:xfrm>
            <a:off x="413945" y="2848116"/>
            <a:ext cx="6153873" cy="1723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40000"/>
              </a:lnSpc>
              <a:spcBef>
                <a:spcPts val="1000"/>
              </a:spcBef>
            </a:pPr>
            <a:r>
              <a:rPr lang="en-US" sz="1500" dirty="0">
                <a:ea typeface="+mn-lt"/>
                <a:cs typeface="+mn-lt"/>
              </a:rPr>
              <a:t>Fact tables typically </a:t>
            </a:r>
            <a:r>
              <a:rPr lang="en-US" sz="1500">
                <a:ea typeface="+mn-lt"/>
                <a:cs typeface="+mn-lt"/>
              </a:rPr>
              <a:t>contain </a:t>
            </a:r>
            <a:r>
              <a:rPr lang="en-US" sz="1500" dirty="0">
                <a:ea typeface="+mn-lt"/>
                <a:cs typeface="+mn-lt"/>
              </a:rPr>
              <a:t>:</a:t>
            </a:r>
            <a:endParaRPr lang="en-US"/>
          </a:p>
          <a:p>
            <a:pPr marL="285750" indent="-285750">
              <a:spcBef>
                <a:spcPts val="1000"/>
              </a:spcBef>
              <a:buFont typeface="Arial"/>
              <a:buChar char="•"/>
            </a:pPr>
            <a:r>
              <a:rPr lang="en-US" sz="1500" b="1">
                <a:ea typeface="+mn-lt"/>
                <a:cs typeface="+mn-lt"/>
              </a:rPr>
              <a:t>Numeric measures</a:t>
            </a:r>
            <a:r>
              <a:rPr lang="en-US" sz="1500">
                <a:ea typeface="+mn-lt"/>
                <a:cs typeface="+mn-lt"/>
              </a:rPr>
              <a:t> (counts, quantities)</a:t>
            </a:r>
            <a:endParaRPr lang="en-US" sz="1500" dirty="0">
              <a:ea typeface="+mn-lt"/>
              <a:cs typeface="+mn-lt"/>
            </a:endParaRPr>
          </a:p>
          <a:p>
            <a:pPr marL="285750" indent="-285750">
              <a:spcBef>
                <a:spcPts val="1000"/>
              </a:spcBef>
              <a:buFont typeface="Arial"/>
              <a:buChar char="•"/>
            </a:pPr>
            <a:r>
              <a:rPr lang="en-US" sz="1500" b="1">
                <a:ea typeface="+mn-lt"/>
                <a:cs typeface="+mn-lt"/>
              </a:rPr>
              <a:t>Foreign keys referencing dimensions</a:t>
            </a:r>
            <a:endParaRPr lang="en-US" sz="1500" dirty="0">
              <a:cs typeface="Poppins Light"/>
            </a:endParaRPr>
          </a:p>
          <a:p>
            <a:pPr marL="285750" indent="-285750">
              <a:spcBef>
                <a:spcPts val="1000"/>
              </a:spcBef>
              <a:buFont typeface="Arial"/>
              <a:buChar char="•"/>
            </a:pPr>
            <a:r>
              <a:rPr lang="en-US" sz="1500" b="1">
                <a:cs typeface="Poppins Light"/>
              </a:rPr>
              <a:t>Event-level data</a:t>
            </a:r>
            <a:endParaRPr lang="en-US" sz="1500" dirty="0">
              <a:cs typeface="Poppins Light"/>
            </a:endParaRPr>
          </a:p>
          <a:p>
            <a:pPr algn="l"/>
            <a:endParaRPr lang="en-US" sz="1500" dirty="0">
              <a:cs typeface="Poppins Light"/>
            </a:endParaRPr>
          </a:p>
        </p:txBody>
      </p:sp>
      <p:sp>
        <p:nvSpPr>
          <p:cNvPr id="5" name="TextBox 4">
            <a:extLst>
              <a:ext uri="{FF2B5EF4-FFF2-40B4-BE49-F238E27FC236}">
                <a16:creationId xmlns:a16="http://schemas.microsoft.com/office/drawing/2014/main" id="{D4D89C45-5BD0-F79B-DF90-7FFB155AB96B}"/>
              </a:ext>
            </a:extLst>
          </p:cNvPr>
          <p:cNvSpPr txBox="1"/>
          <p:nvPr/>
        </p:nvSpPr>
        <p:spPr>
          <a:xfrm>
            <a:off x="409762" y="4812093"/>
            <a:ext cx="7664624"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ea typeface="+mn-lt"/>
                <a:cs typeface="+mn-lt"/>
              </a:rPr>
              <a:t>In this data warehouse, fact tables are designed using a </a:t>
            </a:r>
            <a:r>
              <a:rPr lang="en-US" sz="1500" b="1" dirty="0">
                <a:ea typeface="+mn-lt"/>
                <a:cs typeface="+mn-lt"/>
              </a:rPr>
              <a:t>transaction fact model</a:t>
            </a:r>
            <a:r>
              <a:rPr lang="en-US" sz="1500" dirty="0">
                <a:ea typeface="+mn-lt"/>
                <a:cs typeface="+mn-lt"/>
              </a:rPr>
              <a:t>, where each record represents a single event.</a:t>
            </a:r>
            <a:endParaRPr lang="en-US" sz="1500" dirty="0">
              <a:cs typeface="Poppins Light"/>
            </a:endParaRPr>
          </a:p>
          <a:p>
            <a:pPr algn="l"/>
            <a:endParaRPr lang="en-US" sz="1500" dirty="0">
              <a:cs typeface="Poppins Light"/>
            </a:endParaRPr>
          </a:p>
        </p:txBody>
      </p:sp>
    </p:spTree>
    <p:extLst>
      <p:ext uri="{BB962C8B-B14F-4D97-AF65-F5344CB8AC3E}">
        <p14:creationId xmlns:p14="http://schemas.microsoft.com/office/powerpoint/2010/main" val="1858387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BC33C-1AA7-A529-5491-8628CADC30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C7114-F38E-F418-2B8D-28E3F2028786}"/>
              </a:ext>
            </a:extLst>
          </p:cNvPr>
          <p:cNvSpPr>
            <a:spLocks noGrp="1"/>
          </p:cNvSpPr>
          <p:nvPr>
            <p:ph type="title"/>
          </p:nvPr>
        </p:nvSpPr>
        <p:spPr>
          <a:xfrm>
            <a:off x="410671" y="526396"/>
            <a:ext cx="8467558" cy="755758"/>
          </a:xfrm>
        </p:spPr>
        <p:txBody>
          <a:bodyPr>
            <a:normAutofit/>
          </a:bodyPr>
          <a:lstStyle/>
          <a:p>
            <a:r>
              <a:rPr lang="en-US" sz="3000">
                <a:latin typeface="Lora"/>
                <a:ea typeface="+mj-lt"/>
                <a:cs typeface="Poppins Light"/>
              </a:rPr>
              <a:t>Fact Tables Implemented</a:t>
            </a:r>
            <a:endParaRPr lang="en-US" sz="3000">
              <a:latin typeface="Lora"/>
              <a:cs typeface="Poppins Light"/>
            </a:endParaRPr>
          </a:p>
        </p:txBody>
      </p:sp>
      <p:sp>
        <p:nvSpPr>
          <p:cNvPr id="3" name="Content Placeholder 2">
            <a:extLst>
              <a:ext uri="{FF2B5EF4-FFF2-40B4-BE49-F238E27FC236}">
                <a16:creationId xmlns:a16="http://schemas.microsoft.com/office/drawing/2014/main" id="{9917FED9-7661-FE1B-3176-6216E1D9AAEE}"/>
              </a:ext>
            </a:extLst>
          </p:cNvPr>
          <p:cNvSpPr>
            <a:spLocks noGrp="1"/>
          </p:cNvSpPr>
          <p:nvPr>
            <p:ph sz="quarter" idx="13"/>
          </p:nvPr>
        </p:nvSpPr>
        <p:spPr>
          <a:xfrm>
            <a:off x="410671" y="1461691"/>
            <a:ext cx="9110208" cy="1963933"/>
          </a:xfrm>
        </p:spPr>
        <p:txBody>
          <a:bodyPr vert="horz" lIns="91440" tIns="45720" rIns="91440" bIns="45720" rtlCol="0" anchor="t">
            <a:noAutofit/>
          </a:bodyPr>
          <a:lstStyle/>
          <a:p>
            <a:pPr marL="285750" indent="-285750">
              <a:lnSpc>
                <a:spcPct val="100000"/>
              </a:lnSpc>
              <a:buFont typeface="Arial"/>
              <a:buChar char="•"/>
            </a:pPr>
            <a:r>
              <a:rPr lang="en-US" sz="1600" dirty="0" err="1">
                <a:cs typeface="Poppins Light"/>
              </a:rPr>
              <a:t>fct_donations</a:t>
            </a:r>
            <a:endParaRPr lang="en-US" sz="1600">
              <a:cs typeface="Poppins Light"/>
            </a:endParaRPr>
          </a:p>
          <a:p>
            <a:pPr marL="285750" indent="-285750">
              <a:lnSpc>
                <a:spcPct val="100000"/>
              </a:lnSpc>
              <a:buFont typeface="Arial"/>
              <a:buChar char="•"/>
            </a:pPr>
            <a:r>
              <a:rPr lang="en-US" sz="1600" dirty="0" err="1">
                <a:cs typeface="Poppins Light"/>
              </a:rPr>
              <a:t>fct_blood_requests</a:t>
            </a:r>
            <a:endParaRPr lang="en-US" sz="1600">
              <a:cs typeface="Poppins Light"/>
            </a:endParaRPr>
          </a:p>
          <a:p>
            <a:pPr marL="285750" indent="-285750">
              <a:lnSpc>
                <a:spcPct val="100000"/>
              </a:lnSpc>
              <a:buFont typeface="Arial"/>
              <a:buChar char="•"/>
            </a:pPr>
            <a:r>
              <a:rPr lang="en-US" sz="1600" dirty="0" err="1">
                <a:cs typeface="Poppins Light"/>
              </a:rPr>
              <a:t>fct_blood_inventory</a:t>
            </a:r>
            <a:endParaRPr lang="en-US" sz="1600">
              <a:cs typeface="Poppins Light"/>
            </a:endParaRPr>
          </a:p>
          <a:p>
            <a:pPr marL="285750" indent="-285750">
              <a:lnSpc>
                <a:spcPct val="100000"/>
              </a:lnSpc>
              <a:buFont typeface="Arial"/>
              <a:buChar char="•"/>
            </a:pPr>
            <a:r>
              <a:rPr lang="en-US" sz="1600" dirty="0" err="1">
                <a:cs typeface="Poppins Light"/>
              </a:rPr>
              <a:t>fct_blood_tests</a:t>
            </a:r>
            <a:endParaRPr lang="en-US" sz="1600" dirty="0">
              <a:cs typeface="Poppins Light"/>
            </a:endParaRPr>
          </a:p>
          <a:p>
            <a:pPr marL="285750" indent="-285750">
              <a:lnSpc>
                <a:spcPct val="100000"/>
              </a:lnSpc>
              <a:buFont typeface="Arial"/>
              <a:buChar char="•"/>
            </a:pPr>
            <a:endParaRPr lang="en-US" sz="1600" dirty="0">
              <a:cs typeface="Poppins Light"/>
            </a:endParaRPr>
          </a:p>
        </p:txBody>
      </p:sp>
      <p:sp>
        <p:nvSpPr>
          <p:cNvPr id="5" name="TextBox 4">
            <a:extLst>
              <a:ext uri="{FF2B5EF4-FFF2-40B4-BE49-F238E27FC236}">
                <a16:creationId xmlns:a16="http://schemas.microsoft.com/office/drawing/2014/main" id="{773A7327-414C-5ABF-3364-C85F756998CB}"/>
              </a:ext>
            </a:extLst>
          </p:cNvPr>
          <p:cNvSpPr txBox="1"/>
          <p:nvPr/>
        </p:nvSpPr>
        <p:spPr>
          <a:xfrm>
            <a:off x="409762" y="3857297"/>
            <a:ext cx="7664624" cy="22525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3000" dirty="0">
              <a:latin typeface="Lora"/>
            </a:endParaRPr>
          </a:p>
          <a:p>
            <a:pPr marL="285750" indent="-285750">
              <a:lnSpc>
                <a:spcPct val="150000"/>
              </a:lnSpc>
              <a:buFont typeface="Arial"/>
              <a:buChar char="•"/>
            </a:pPr>
            <a:r>
              <a:rPr lang="en-US" sz="1500">
                <a:ea typeface="+mn-lt"/>
                <a:cs typeface="+mn-lt"/>
              </a:rPr>
              <a:t>Event-based transaction facts</a:t>
            </a:r>
            <a:endParaRPr lang="en-US">
              <a:cs typeface="Poppins Light"/>
            </a:endParaRPr>
          </a:p>
          <a:p>
            <a:pPr marL="285750" indent="-285750">
              <a:lnSpc>
                <a:spcPct val="150000"/>
              </a:lnSpc>
              <a:buFont typeface="Arial"/>
              <a:buChar char="•"/>
            </a:pPr>
            <a:r>
              <a:rPr lang="en-US" sz="1500">
                <a:ea typeface="+mn-lt"/>
                <a:cs typeface="+mn-lt"/>
              </a:rPr>
              <a:t>Connected to multiple dimension tables</a:t>
            </a:r>
            <a:endParaRPr lang="en-US">
              <a:ea typeface="+mn-lt"/>
              <a:cs typeface="+mn-lt"/>
            </a:endParaRPr>
          </a:p>
          <a:p>
            <a:pPr marL="285750" indent="-285750">
              <a:lnSpc>
                <a:spcPct val="150000"/>
              </a:lnSpc>
              <a:buFont typeface="Arial"/>
              <a:buChar char="•"/>
            </a:pPr>
            <a:r>
              <a:rPr lang="en-US" sz="1500">
                <a:ea typeface="+mn-lt"/>
                <a:cs typeface="+mn-lt"/>
              </a:rPr>
              <a:t>Designed to support analytical queries</a:t>
            </a:r>
            <a:endParaRPr lang="en-US">
              <a:cs typeface="Poppins Light"/>
            </a:endParaRPr>
          </a:p>
          <a:p>
            <a:pPr marL="285750" indent="-285750">
              <a:lnSpc>
                <a:spcPct val="150000"/>
              </a:lnSpc>
              <a:buFont typeface="Arial"/>
              <a:buChar char="•"/>
            </a:pPr>
            <a:r>
              <a:rPr lang="en-US" sz="1500">
                <a:ea typeface="+mn-lt"/>
                <a:cs typeface="+mn-lt"/>
              </a:rPr>
              <a:t>Built using </a:t>
            </a:r>
            <a:r>
              <a:rPr lang="en-US" sz="1500" b="1">
                <a:ea typeface="+mn-lt"/>
                <a:cs typeface="+mn-lt"/>
              </a:rPr>
              <a:t>incremental loading strategy in DBT</a:t>
            </a:r>
            <a:endParaRPr lang="en-US">
              <a:cs typeface="Poppins Light"/>
            </a:endParaRPr>
          </a:p>
          <a:p>
            <a:pPr algn="l">
              <a:lnSpc>
                <a:spcPct val="150000"/>
              </a:lnSpc>
            </a:pPr>
            <a:endParaRPr lang="en-US" sz="1500" dirty="0">
              <a:cs typeface="Poppins Light"/>
            </a:endParaRPr>
          </a:p>
        </p:txBody>
      </p:sp>
      <p:sp>
        <p:nvSpPr>
          <p:cNvPr id="7" name="TextBox 6">
            <a:extLst>
              <a:ext uri="{FF2B5EF4-FFF2-40B4-BE49-F238E27FC236}">
                <a16:creationId xmlns:a16="http://schemas.microsoft.com/office/drawing/2014/main" id="{2E6A0E7F-799C-883D-B46C-24A2F1CD3983}"/>
              </a:ext>
            </a:extLst>
          </p:cNvPr>
          <p:cNvSpPr txBox="1"/>
          <p:nvPr/>
        </p:nvSpPr>
        <p:spPr>
          <a:xfrm>
            <a:off x="411273" y="3682051"/>
            <a:ext cx="709228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latin typeface="Lora"/>
              </a:rPr>
              <a:t>FACT TABLE CHARACTERSTICS</a:t>
            </a:r>
          </a:p>
          <a:p>
            <a:pPr algn="l"/>
            <a:endParaRPr lang="en-US" dirty="0">
              <a:cs typeface="Poppins Light"/>
            </a:endParaRPr>
          </a:p>
        </p:txBody>
      </p:sp>
    </p:spTree>
    <p:extLst>
      <p:ext uri="{BB962C8B-B14F-4D97-AF65-F5344CB8AC3E}">
        <p14:creationId xmlns:p14="http://schemas.microsoft.com/office/powerpoint/2010/main" val="805122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FE4A1-FE99-5DFE-2513-250617159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3F2040-DACD-650B-5C54-DD5748128691}"/>
              </a:ext>
            </a:extLst>
          </p:cNvPr>
          <p:cNvSpPr>
            <a:spLocks noGrp="1"/>
          </p:cNvSpPr>
          <p:nvPr>
            <p:ph type="title"/>
          </p:nvPr>
        </p:nvSpPr>
        <p:spPr>
          <a:xfrm>
            <a:off x="1491428" y="1979382"/>
            <a:ext cx="7612657" cy="2538360"/>
          </a:xfrm>
        </p:spPr>
        <p:txBody>
          <a:bodyPr>
            <a:normAutofit/>
          </a:bodyPr>
          <a:lstStyle/>
          <a:p>
            <a:r>
              <a:rPr lang="en-US" sz="4500"/>
              <a:t>DATA MODELLING APPROACH</a:t>
            </a:r>
            <a:endParaRPr lang="en-US" sz="4500" dirty="0"/>
          </a:p>
        </p:txBody>
      </p:sp>
      <p:sp>
        <p:nvSpPr>
          <p:cNvPr id="3" name="Subtitle 2">
            <a:extLst>
              <a:ext uri="{FF2B5EF4-FFF2-40B4-BE49-F238E27FC236}">
                <a16:creationId xmlns:a16="http://schemas.microsoft.com/office/drawing/2014/main" id="{FA5A6971-A1D7-0F2E-67D1-968EEA113AD3}"/>
              </a:ext>
            </a:extLst>
          </p:cNvPr>
          <p:cNvSpPr>
            <a:spLocks noGrp="1"/>
          </p:cNvSpPr>
          <p:nvPr>
            <p:ph type="body" sz="quarter" idx="13"/>
          </p:nvPr>
        </p:nvSpPr>
        <p:spPr>
          <a:xfrm>
            <a:off x="8819198" y="4902800"/>
            <a:ext cx="3024899" cy="1291545"/>
          </a:xfrm>
        </p:spPr>
        <p:txBody>
          <a:bodyPr vert="horz" lIns="91440" tIns="45720" rIns="91440" bIns="45720" rtlCol="0" anchor="t">
            <a:noAutofit/>
          </a:bodyPr>
          <a:lstStyle/>
          <a:p>
            <a:pPr>
              <a:lnSpc>
                <a:spcPct val="100000"/>
              </a:lnSpc>
            </a:pPr>
            <a:endParaRPr lang="en-US" sz="1500" dirty="0">
              <a:cs typeface="Poppins Light"/>
            </a:endParaRPr>
          </a:p>
          <a:p>
            <a:pPr>
              <a:lnSpc>
                <a:spcPct val="100000"/>
              </a:lnSpc>
            </a:pPr>
            <a:endParaRPr lang="en-US" sz="1500" dirty="0">
              <a:cs typeface="Poppins Light"/>
            </a:endParaRPr>
          </a:p>
        </p:txBody>
      </p:sp>
    </p:spTree>
    <p:extLst>
      <p:ext uri="{BB962C8B-B14F-4D97-AF65-F5344CB8AC3E}">
        <p14:creationId xmlns:p14="http://schemas.microsoft.com/office/powerpoint/2010/main" val="500162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BBF96-02BB-38A5-7509-B21B292C60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624FA-B54A-8B02-7E4C-7AE764F0B524}"/>
              </a:ext>
            </a:extLst>
          </p:cNvPr>
          <p:cNvSpPr>
            <a:spLocks noGrp="1"/>
          </p:cNvSpPr>
          <p:nvPr>
            <p:ph type="title"/>
          </p:nvPr>
        </p:nvSpPr>
        <p:spPr>
          <a:xfrm>
            <a:off x="410671" y="480493"/>
            <a:ext cx="8467558" cy="976094"/>
          </a:xfrm>
        </p:spPr>
        <p:txBody>
          <a:bodyPr>
            <a:normAutofit/>
          </a:bodyPr>
          <a:lstStyle/>
          <a:p>
            <a:r>
              <a:rPr lang="en-US" sz="2800">
                <a:latin typeface="Lora"/>
                <a:ea typeface="+mj-lt"/>
                <a:cs typeface="Poppins Light"/>
              </a:rPr>
              <a:t>DIMENSION MODELLING STRATEGY</a:t>
            </a:r>
          </a:p>
          <a:p>
            <a:endParaRPr lang="en-US" sz="3000" dirty="0">
              <a:latin typeface="Lora"/>
              <a:cs typeface="Poppins Light"/>
            </a:endParaRPr>
          </a:p>
        </p:txBody>
      </p:sp>
      <p:sp>
        <p:nvSpPr>
          <p:cNvPr id="3" name="Content Placeholder 2">
            <a:extLst>
              <a:ext uri="{FF2B5EF4-FFF2-40B4-BE49-F238E27FC236}">
                <a16:creationId xmlns:a16="http://schemas.microsoft.com/office/drawing/2014/main" id="{C31E71EF-BED3-04EA-0F8F-69D0936EB71A}"/>
              </a:ext>
            </a:extLst>
          </p:cNvPr>
          <p:cNvSpPr>
            <a:spLocks noGrp="1"/>
          </p:cNvSpPr>
          <p:nvPr>
            <p:ph sz="quarter" idx="13"/>
          </p:nvPr>
        </p:nvSpPr>
        <p:spPr>
          <a:xfrm>
            <a:off x="410671" y="1204631"/>
            <a:ext cx="9110208" cy="513379"/>
          </a:xfrm>
        </p:spPr>
        <p:txBody>
          <a:bodyPr vert="horz" lIns="91440" tIns="45720" rIns="91440" bIns="45720" rtlCol="0" anchor="t">
            <a:noAutofit/>
          </a:bodyPr>
          <a:lstStyle/>
          <a:p>
            <a:pPr>
              <a:buNone/>
            </a:pPr>
            <a:r>
              <a:rPr lang="en-US" sz="1400">
                <a:cs typeface="Poppins Light"/>
              </a:rPr>
              <a:t>The data warehouse follows a </a:t>
            </a:r>
            <a:r>
              <a:rPr lang="en-US" sz="1400" b="1">
                <a:cs typeface="Poppins Light"/>
              </a:rPr>
              <a:t>Star Schema design</a:t>
            </a:r>
            <a:r>
              <a:rPr lang="en-US" sz="1400">
                <a:cs typeface="Poppins Light"/>
              </a:rPr>
              <a:t>.</a:t>
            </a:r>
          </a:p>
          <a:p>
            <a:pPr marL="0" indent="0">
              <a:lnSpc>
                <a:spcPct val="100000"/>
              </a:lnSpc>
              <a:buNone/>
            </a:pPr>
            <a:endParaRPr lang="en-US" sz="1600" dirty="0">
              <a:cs typeface="Poppins Light"/>
            </a:endParaRPr>
          </a:p>
        </p:txBody>
      </p:sp>
      <p:sp>
        <p:nvSpPr>
          <p:cNvPr id="5" name="TextBox 4">
            <a:extLst>
              <a:ext uri="{FF2B5EF4-FFF2-40B4-BE49-F238E27FC236}">
                <a16:creationId xmlns:a16="http://schemas.microsoft.com/office/drawing/2014/main" id="{37D07FBB-DE98-F790-E80F-11EDEBA90C06}"/>
              </a:ext>
            </a:extLst>
          </p:cNvPr>
          <p:cNvSpPr txBox="1"/>
          <p:nvPr/>
        </p:nvSpPr>
        <p:spPr>
          <a:xfrm>
            <a:off x="409762" y="1993610"/>
            <a:ext cx="7664624" cy="39922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Lora"/>
                <a:cs typeface="Poppins Light"/>
              </a:rPr>
              <a:t>CHARACTERSTICS :</a:t>
            </a:r>
            <a:endParaRPr lang="en-US" sz="1600" b="1" dirty="0">
              <a:latin typeface="Lora"/>
              <a:cs typeface="Poppins Light"/>
            </a:endParaRPr>
          </a:p>
          <a:p>
            <a:pPr marL="285750" indent="-285750">
              <a:lnSpc>
                <a:spcPct val="150000"/>
              </a:lnSpc>
              <a:buFont typeface="Arial"/>
              <a:buChar char="•"/>
            </a:pPr>
            <a:r>
              <a:rPr lang="en-US" sz="1600">
                <a:ea typeface="+mn-lt"/>
                <a:cs typeface="+mn-lt"/>
              </a:rPr>
              <a:t>Fact tables at the center</a:t>
            </a:r>
            <a:endParaRPr lang="en-US" sz="1600">
              <a:cs typeface="Poppins Light"/>
            </a:endParaRPr>
          </a:p>
          <a:p>
            <a:pPr marL="285750" indent="-285750">
              <a:lnSpc>
                <a:spcPct val="150000"/>
              </a:lnSpc>
              <a:buFont typeface="Arial"/>
              <a:buChar char="•"/>
            </a:pPr>
            <a:r>
              <a:rPr lang="en-US" sz="1600">
                <a:ea typeface="+mn-lt"/>
                <a:cs typeface="+mn-lt"/>
              </a:rPr>
              <a:t>Dimension tables surrounding facts</a:t>
            </a:r>
            <a:endParaRPr lang="en-US" sz="1600">
              <a:cs typeface="Poppins Light"/>
            </a:endParaRPr>
          </a:p>
          <a:p>
            <a:pPr marL="285750" indent="-285750">
              <a:lnSpc>
                <a:spcPct val="150000"/>
              </a:lnSpc>
              <a:buFont typeface="Arial"/>
              <a:buChar char="•"/>
            </a:pPr>
            <a:r>
              <a:rPr lang="en-US" sz="1600">
                <a:ea typeface="+mn-lt"/>
                <a:cs typeface="+mn-lt"/>
              </a:rPr>
              <a:t>Simplified query structure</a:t>
            </a:r>
            <a:endParaRPr lang="en-US" sz="1600">
              <a:cs typeface="Poppins Light"/>
            </a:endParaRPr>
          </a:p>
          <a:p>
            <a:pPr marL="285750" indent="-285750">
              <a:lnSpc>
                <a:spcPct val="150000"/>
              </a:lnSpc>
              <a:buFont typeface="Arial"/>
              <a:buChar char="•"/>
            </a:pPr>
            <a:r>
              <a:rPr lang="en-US" sz="1600" dirty="0">
                <a:ea typeface="+mn-lt"/>
                <a:cs typeface="+mn-lt"/>
              </a:rPr>
              <a:t>Optimized for analytical queries</a:t>
            </a:r>
            <a:endParaRPr lang="en-US" sz="1600" dirty="0">
              <a:cs typeface="Poppins Light"/>
            </a:endParaRPr>
          </a:p>
          <a:p>
            <a:endParaRPr lang="en-US" sz="1600" dirty="0">
              <a:ea typeface="+mn-lt"/>
              <a:cs typeface="+mn-lt"/>
            </a:endParaRPr>
          </a:p>
          <a:p>
            <a:endParaRPr lang="en-US" sz="1600" dirty="0">
              <a:ea typeface="+mn-lt"/>
              <a:cs typeface="+mn-lt"/>
            </a:endParaRPr>
          </a:p>
          <a:p>
            <a:r>
              <a:rPr lang="en-US" sz="1600" b="1">
                <a:latin typeface="Lora"/>
                <a:cs typeface="Poppins Light"/>
              </a:rPr>
              <a:t>BENEFITS :</a:t>
            </a:r>
            <a:endParaRPr lang="en-US" sz="1600" b="1" dirty="0">
              <a:latin typeface="Lora"/>
              <a:cs typeface="Poppins Light"/>
            </a:endParaRPr>
          </a:p>
          <a:p>
            <a:pPr marL="285750" indent="-285750">
              <a:lnSpc>
                <a:spcPct val="150000"/>
              </a:lnSpc>
              <a:buFont typeface="Arial"/>
              <a:buChar char="•"/>
            </a:pPr>
            <a:r>
              <a:rPr lang="en-US" sz="1600">
                <a:ea typeface="+mn-lt"/>
                <a:cs typeface="+mn-lt"/>
              </a:rPr>
              <a:t>Faster aggregations</a:t>
            </a:r>
            <a:endParaRPr lang="en-US" sz="1600">
              <a:cs typeface="Poppins Light"/>
            </a:endParaRPr>
          </a:p>
          <a:p>
            <a:pPr marL="285750" indent="-285750">
              <a:lnSpc>
                <a:spcPct val="150000"/>
              </a:lnSpc>
              <a:buFont typeface="Arial"/>
              <a:buChar char="•"/>
            </a:pPr>
            <a:r>
              <a:rPr lang="en-US" sz="1600">
                <a:ea typeface="+mn-lt"/>
                <a:cs typeface="+mn-lt"/>
              </a:rPr>
              <a:t>Easy reporting</a:t>
            </a:r>
            <a:endParaRPr lang="en-US" sz="1600">
              <a:cs typeface="Poppins Light"/>
            </a:endParaRPr>
          </a:p>
          <a:p>
            <a:pPr marL="285750" indent="-285750">
              <a:lnSpc>
                <a:spcPct val="150000"/>
              </a:lnSpc>
              <a:buFont typeface="Arial"/>
              <a:buChar char="•"/>
            </a:pPr>
            <a:r>
              <a:rPr lang="en-US" sz="1600">
                <a:ea typeface="+mn-lt"/>
                <a:cs typeface="+mn-lt"/>
              </a:rPr>
              <a:t>Simplified data exploration</a:t>
            </a:r>
            <a:endParaRPr lang="en-US" sz="1600">
              <a:cs typeface="Poppins Light"/>
            </a:endParaRPr>
          </a:p>
          <a:p>
            <a:pPr algn="l">
              <a:lnSpc>
                <a:spcPct val="150000"/>
              </a:lnSpc>
            </a:pPr>
            <a:endParaRPr lang="en-US" sz="1600" dirty="0">
              <a:latin typeface="Lora"/>
              <a:cs typeface="Poppins Light"/>
            </a:endParaRPr>
          </a:p>
        </p:txBody>
      </p:sp>
    </p:spTree>
    <p:extLst>
      <p:ext uri="{BB962C8B-B14F-4D97-AF65-F5344CB8AC3E}">
        <p14:creationId xmlns:p14="http://schemas.microsoft.com/office/powerpoint/2010/main" val="1481056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436FA-B08C-D626-94E5-72086859D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8ED99-9898-CD91-EFB9-12072FED06C9}"/>
              </a:ext>
            </a:extLst>
          </p:cNvPr>
          <p:cNvSpPr>
            <a:spLocks noGrp="1"/>
          </p:cNvSpPr>
          <p:nvPr>
            <p:ph type="title"/>
          </p:nvPr>
        </p:nvSpPr>
        <p:spPr>
          <a:xfrm>
            <a:off x="410671" y="480493"/>
            <a:ext cx="8467558" cy="976094"/>
          </a:xfrm>
        </p:spPr>
        <p:txBody>
          <a:bodyPr>
            <a:normAutofit/>
          </a:bodyPr>
          <a:lstStyle/>
          <a:p>
            <a:r>
              <a:rPr lang="en-US" sz="2800">
                <a:ea typeface="+mj-lt"/>
                <a:cs typeface="Poppins Light"/>
              </a:rPr>
              <a:t>Surrogate keys</a:t>
            </a:r>
            <a:endParaRPr lang="en-US"/>
          </a:p>
          <a:p>
            <a:endParaRPr lang="en-US" sz="3000" dirty="0">
              <a:latin typeface="Lora"/>
              <a:cs typeface="Poppins Light"/>
            </a:endParaRPr>
          </a:p>
        </p:txBody>
      </p:sp>
      <p:sp>
        <p:nvSpPr>
          <p:cNvPr id="3" name="Content Placeholder 2">
            <a:extLst>
              <a:ext uri="{FF2B5EF4-FFF2-40B4-BE49-F238E27FC236}">
                <a16:creationId xmlns:a16="http://schemas.microsoft.com/office/drawing/2014/main" id="{E04FB801-C1CA-B747-406E-EDE14B9C8841}"/>
              </a:ext>
            </a:extLst>
          </p:cNvPr>
          <p:cNvSpPr>
            <a:spLocks noGrp="1"/>
          </p:cNvSpPr>
          <p:nvPr>
            <p:ph sz="quarter" idx="13"/>
          </p:nvPr>
        </p:nvSpPr>
        <p:spPr>
          <a:xfrm>
            <a:off x="410671" y="1204631"/>
            <a:ext cx="9110208" cy="513379"/>
          </a:xfrm>
        </p:spPr>
        <p:txBody>
          <a:bodyPr vert="horz" lIns="91440" tIns="45720" rIns="91440" bIns="45720" rtlCol="0" anchor="t">
            <a:noAutofit/>
          </a:bodyPr>
          <a:lstStyle/>
          <a:p>
            <a:pPr>
              <a:buNone/>
            </a:pPr>
            <a:r>
              <a:rPr lang="en-US" sz="1400">
                <a:ea typeface="+mn-lt"/>
                <a:cs typeface="+mn-lt"/>
              </a:rPr>
              <a:t>Surrogate keys were generated for </a:t>
            </a:r>
            <a:r>
              <a:rPr lang="en-US" sz="1400" b="1">
                <a:ea typeface="+mn-lt"/>
                <a:cs typeface="+mn-lt"/>
              </a:rPr>
              <a:t>dimension tables.</a:t>
            </a:r>
            <a:endParaRPr lang="en-US" b="1">
              <a:ea typeface="+mn-lt"/>
              <a:cs typeface="+mn-lt"/>
            </a:endParaRPr>
          </a:p>
          <a:p>
            <a:pPr>
              <a:buNone/>
            </a:pPr>
            <a:endParaRPr lang="en-US" sz="1400" dirty="0">
              <a:cs typeface="Poppins Light"/>
            </a:endParaRPr>
          </a:p>
        </p:txBody>
      </p:sp>
      <p:sp>
        <p:nvSpPr>
          <p:cNvPr id="5" name="TextBox 4">
            <a:extLst>
              <a:ext uri="{FF2B5EF4-FFF2-40B4-BE49-F238E27FC236}">
                <a16:creationId xmlns:a16="http://schemas.microsoft.com/office/drawing/2014/main" id="{9F33FA5C-FDEF-CB6E-9EA4-DCCEA4292470}"/>
              </a:ext>
            </a:extLst>
          </p:cNvPr>
          <p:cNvSpPr txBox="1"/>
          <p:nvPr/>
        </p:nvSpPr>
        <p:spPr>
          <a:xfrm>
            <a:off x="409762" y="1993610"/>
            <a:ext cx="7664624" cy="36625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Lora"/>
                <a:ea typeface="+mn-lt"/>
                <a:cs typeface="+mn-lt"/>
              </a:rPr>
              <a:t>PURPOSE :</a:t>
            </a:r>
            <a:endParaRPr lang="en-US" sz="1600" b="1" dirty="0">
              <a:latin typeface="Lora"/>
              <a:ea typeface="+mn-lt"/>
              <a:cs typeface="+mn-lt"/>
            </a:endParaRPr>
          </a:p>
          <a:p>
            <a:pPr marL="285750" indent="-285750">
              <a:lnSpc>
                <a:spcPct val="150000"/>
              </a:lnSpc>
              <a:buFont typeface="Arial"/>
              <a:buChar char="•"/>
            </a:pPr>
            <a:r>
              <a:rPr lang="en-US" sz="1600">
                <a:ea typeface="+mn-lt"/>
                <a:cs typeface="+mn-lt"/>
              </a:rPr>
              <a:t>Avoid dependency on source system keys</a:t>
            </a:r>
            <a:endParaRPr lang="en-US">
              <a:cs typeface="Poppins Light"/>
            </a:endParaRPr>
          </a:p>
          <a:p>
            <a:pPr marL="285750" indent="-285750">
              <a:lnSpc>
                <a:spcPct val="150000"/>
              </a:lnSpc>
              <a:buFont typeface="Arial"/>
              <a:buChar char="•"/>
            </a:pPr>
            <a:r>
              <a:rPr lang="en-US" sz="1600">
                <a:ea typeface="+mn-lt"/>
                <a:cs typeface="+mn-lt"/>
              </a:rPr>
              <a:t>Maintain historical records</a:t>
            </a:r>
            <a:endParaRPr lang="en-US">
              <a:cs typeface="Poppins Light"/>
            </a:endParaRPr>
          </a:p>
          <a:p>
            <a:pPr marL="285750" indent="-285750">
              <a:lnSpc>
                <a:spcPct val="150000"/>
              </a:lnSpc>
              <a:buFont typeface="Arial"/>
              <a:buChar char="•"/>
            </a:pPr>
            <a:r>
              <a:rPr lang="en-US" sz="1600">
                <a:ea typeface="+mn-lt"/>
                <a:cs typeface="+mn-lt"/>
              </a:rPr>
              <a:t>Support Slowly Changing Dimensions</a:t>
            </a:r>
            <a:endParaRPr lang="en-US">
              <a:cs typeface="Poppins Light"/>
            </a:endParaRPr>
          </a:p>
          <a:p>
            <a:pPr>
              <a:lnSpc>
                <a:spcPct val="150000"/>
              </a:lnSpc>
            </a:pPr>
            <a:endParaRPr lang="en-US" sz="1600" dirty="0">
              <a:ea typeface="+mn-lt"/>
              <a:cs typeface="+mn-lt"/>
            </a:endParaRPr>
          </a:p>
          <a:p>
            <a:pPr>
              <a:lnSpc>
                <a:spcPct val="150000"/>
              </a:lnSpc>
            </a:pPr>
            <a:endParaRPr lang="en-US" sz="1600" dirty="0">
              <a:ea typeface="+mn-lt"/>
              <a:cs typeface="+mn-lt"/>
            </a:endParaRPr>
          </a:p>
          <a:p>
            <a:r>
              <a:rPr lang="en-US" sz="1600">
                <a:ea typeface="+mn-lt"/>
                <a:cs typeface="+mn-lt"/>
              </a:rPr>
              <a:t>Surrogate keys were generated using </a:t>
            </a:r>
            <a:r>
              <a:rPr lang="en-US" sz="1600" b="1">
                <a:ea typeface="+mn-lt"/>
                <a:cs typeface="+mn-lt"/>
              </a:rPr>
              <a:t>DBT utilities</a:t>
            </a:r>
            <a:r>
              <a:rPr lang="en-US" sz="1600">
                <a:ea typeface="+mn-lt"/>
                <a:cs typeface="+mn-lt"/>
              </a:rPr>
              <a:t>.</a:t>
            </a:r>
            <a:endParaRPr lang="en-US"/>
          </a:p>
          <a:p>
            <a:pPr algn="l"/>
            <a:endParaRPr lang="en-US" sz="1600" dirty="0">
              <a:latin typeface="Poppins Light"/>
              <a:cs typeface="Poppins Light"/>
            </a:endParaRPr>
          </a:p>
          <a:p>
            <a:r>
              <a:rPr lang="en-US" sz="1600" b="1">
                <a:latin typeface="Lora"/>
                <a:ea typeface="+mn-lt"/>
                <a:cs typeface="+mn-lt"/>
              </a:rPr>
              <a:t>EXAMPLE </a:t>
            </a:r>
            <a:r>
              <a:rPr lang="en-US" sz="1600" b="1">
                <a:ea typeface="+mn-lt"/>
                <a:cs typeface="+mn-lt"/>
              </a:rPr>
              <a:t>:</a:t>
            </a:r>
            <a:r>
              <a:rPr lang="en-US" sz="1600" dirty="0">
                <a:ea typeface="+mn-lt"/>
                <a:cs typeface="+mn-lt"/>
              </a:rPr>
              <a:t> </a:t>
            </a:r>
            <a:endParaRPr lang="en-US" i="1">
              <a:ea typeface="+mn-lt"/>
              <a:cs typeface="+mn-lt"/>
            </a:endParaRPr>
          </a:p>
          <a:p>
            <a:endParaRPr lang="en-US" sz="1600" dirty="0">
              <a:ea typeface="+mn-lt"/>
              <a:cs typeface="+mn-lt"/>
            </a:endParaRPr>
          </a:p>
          <a:p>
            <a:r>
              <a:rPr lang="en-US" sz="1600" dirty="0" err="1">
                <a:ea typeface="+mn-lt"/>
                <a:cs typeface="+mn-lt"/>
              </a:rPr>
              <a:t>generate_surrogate_key</a:t>
            </a:r>
            <a:r>
              <a:rPr lang="en-US" sz="1600" dirty="0">
                <a:ea typeface="+mn-lt"/>
                <a:cs typeface="+mn-lt"/>
              </a:rPr>
              <a:t>(['donor_id','</a:t>
            </a:r>
            <a:r>
              <a:rPr lang="en-US" sz="1600" dirty="0" err="1">
                <a:ea typeface="+mn-lt"/>
                <a:cs typeface="+mn-lt"/>
              </a:rPr>
              <a:t>dbt_valid_from</a:t>
            </a:r>
            <a:r>
              <a:rPr lang="en-US" sz="1600" dirty="0">
                <a:ea typeface="+mn-lt"/>
                <a:cs typeface="+mn-lt"/>
              </a:rPr>
              <a:t>'])</a:t>
            </a:r>
            <a:endParaRPr lang="en-US" dirty="0">
              <a:cs typeface="Poppins Light"/>
            </a:endParaRPr>
          </a:p>
          <a:p>
            <a:endParaRPr lang="en-US" sz="1600" b="1" i="1" dirty="0">
              <a:latin typeface="Lora"/>
              <a:cs typeface="Poppins Light"/>
            </a:endParaRPr>
          </a:p>
        </p:txBody>
      </p:sp>
    </p:spTree>
    <p:extLst>
      <p:ext uri="{BB962C8B-B14F-4D97-AF65-F5344CB8AC3E}">
        <p14:creationId xmlns:p14="http://schemas.microsoft.com/office/powerpoint/2010/main" val="1842992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446A7-B1C4-CC08-A30A-8D634059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A376F-B11F-26E9-FCD5-DEDFCFE20E8D}"/>
              </a:ext>
            </a:extLst>
          </p:cNvPr>
          <p:cNvSpPr>
            <a:spLocks noGrp="1"/>
          </p:cNvSpPr>
          <p:nvPr>
            <p:ph type="title"/>
          </p:nvPr>
        </p:nvSpPr>
        <p:spPr>
          <a:xfrm>
            <a:off x="1491428" y="1979382"/>
            <a:ext cx="7612657" cy="2538360"/>
          </a:xfrm>
        </p:spPr>
        <p:txBody>
          <a:bodyPr>
            <a:normAutofit/>
          </a:bodyPr>
          <a:lstStyle/>
          <a:p>
            <a:r>
              <a:rPr lang="en-US" sz="4500"/>
              <a:t>DATA TRANSFORMATION USING DBT</a:t>
            </a:r>
            <a:endParaRPr lang="en-US" sz="4500" dirty="0"/>
          </a:p>
        </p:txBody>
      </p:sp>
      <p:sp>
        <p:nvSpPr>
          <p:cNvPr id="3" name="Subtitle 2">
            <a:extLst>
              <a:ext uri="{FF2B5EF4-FFF2-40B4-BE49-F238E27FC236}">
                <a16:creationId xmlns:a16="http://schemas.microsoft.com/office/drawing/2014/main" id="{5F7174AD-D2EF-3B92-D6A8-B717991B312D}"/>
              </a:ext>
            </a:extLst>
          </p:cNvPr>
          <p:cNvSpPr>
            <a:spLocks noGrp="1"/>
          </p:cNvSpPr>
          <p:nvPr>
            <p:ph type="body" sz="quarter" idx="13"/>
          </p:nvPr>
        </p:nvSpPr>
        <p:spPr>
          <a:xfrm>
            <a:off x="8819198" y="4902800"/>
            <a:ext cx="3024899" cy="1291545"/>
          </a:xfrm>
        </p:spPr>
        <p:txBody>
          <a:bodyPr vert="horz" lIns="91440" tIns="45720" rIns="91440" bIns="45720" rtlCol="0" anchor="t">
            <a:noAutofit/>
          </a:bodyPr>
          <a:lstStyle/>
          <a:p>
            <a:pPr>
              <a:lnSpc>
                <a:spcPct val="100000"/>
              </a:lnSpc>
            </a:pPr>
            <a:endParaRPr lang="en-US" sz="1500" dirty="0">
              <a:cs typeface="Poppins Light"/>
            </a:endParaRPr>
          </a:p>
          <a:p>
            <a:pPr>
              <a:lnSpc>
                <a:spcPct val="100000"/>
              </a:lnSpc>
            </a:pPr>
            <a:endParaRPr lang="en-US" sz="1500" dirty="0">
              <a:cs typeface="Poppins Light"/>
            </a:endParaRPr>
          </a:p>
        </p:txBody>
      </p:sp>
    </p:spTree>
    <p:extLst>
      <p:ext uri="{BB962C8B-B14F-4D97-AF65-F5344CB8AC3E}">
        <p14:creationId xmlns:p14="http://schemas.microsoft.com/office/powerpoint/2010/main" val="273258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F5984-5E8F-8870-FFF2-CF6727B5D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3206A-90FC-57CC-70AF-46738EBDAFCC}"/>
              </a:ext>
            </a:extLst>
          </p:cNvPr>
          <p:cNvSpPr>
            <a:spLocks noGrp="1"/>
          </p:cNvSpPr>
          <p:nvPr>
            <p:ph type="title"/>
          </p:nvPr>
        </p:nvSpPr>
        <p:spPr>
          <a:xfrm>
            <a:off x="410671" y="397866"/>
            <a:ext cx="8467558" cy="976094"/>
          </a:xfrm>
        </p:spPr>
        <p:txBody>
          <a:bodyPr>
            <a:normAutofit/>
          </a:bodyPr>
          <a:lstStyle/>
          <a:p>
            <a:r>
              <a:rPr lang="en-US" sz="2800">
                <a:cs typeface="Poppins Light"/>
              </a:rPr>
              <a:t>TRANSFORMATION FRAMEWORK</a:t>
            </a:r>
            <a:endParaRPr lang="en-US" sz="2800" dirty="0">
              <a:cs typeface="Poppins Light"/>
            </a:endParaRPr>
          </a:p>
          <a:p>
            <a:endParaRPr lang="en-US" sz="3000" dirty="0">
              <a:latin typeface="Lora"/>
              <a:cs typeface="Poppins Light"/>
            </a:endParaRPr>
          </a:p>
        </p:txBody>
      </p:sp>
      <p:sp>
        <p:nvSpPr>
          <p:cNvPr id="3" name="Content Placeholder 2">
            <a:extLst>
              <a:ext uri="{FF2B5EF4-FFF2-40B4-BE49-F238E27FC236}">
                <a16:creationId xmlns:a16="http://schemas.microsoft.com/office/drawing/2014/main" id="{2E0642D3-A2C6-D783-C8C5-2D94A4E8132A}"/>
              </a:ext>
            </a:extLst>
          </p:cNvPr>
          <p:cNvSpPr>
            <a:spLocks noGrp="1"/>
          </p:cNvSpPr>
          <p:nvPr>
            <p:ph sz="quarter" idx="13"/>
          </p:nvPr>
        </p:nvSpPr>
        <p:spPr>
          <a:xfrm>
            <a:off x="410671" y="1011835"/>
            <a:ext cx="9110208" cy="513379"/>
          </a:xfrm>
        </p:spPr>
        <p:txBody>
          <a:bodyPr vert="horz" lIns="91440" tIns="45720" rIns="91440" bIns="45720" rtlCol="0" anchor="t">
            <a:noAutofit/>
          </a:bodyPr>
          <a:lstStyle/>
          <a:p>
            <a:pPr>
              <a:buNone/>
            </a:pPr>
            <a:r>
              <a:rPr lang="en-US" sz="1400" b="1">
                <a:ea typeface="+mn-lt"/>
                <a:cs typeface="+mn-lt"/>
              </a:rPr>
              <a:t>DBT </a:t>
            </a:r>
            <a:r>
              <a:rPr lang="en-US" sz="1400">
                <a:ea typeface="+mn-lt"/>
                <a:cs typeface="+mn-lt"/>
              </a:rPr>
              <a:t>(Data Build Tool) was used to manage transformations in the warehouse.</a:t>
            </a:r>
            <a:endParaRPr lang="en-US">
              <a:ea typeface="+mn-lt"/>
              <a:cs typeface="+mn-lt"/>
            </a:endParaRPr>
          </a:p>
        </p:txBody>
      </p:sp>
      <p:sp>
        <p:nvSpPr>
          <p:cNvPr id="5" name="TextBox 4">
            <a:extLst>
              <a:ext uri="{FF2B5EF4-FFF2-40B4-BE49-F238E27FC236}">
                <a16:creationId xmlns:a16="http://schemas.microsoft.com/office/drawing/2014/main" id="{0808E821-ABFB-04FF-D4EF-B253F9C41782}"/>
              </a:ext>
            </a:extLst>
          </p:cNvPr>
          <p:cNvSpPr txBox="1"/>
          <p:nvPr/>
        </p:nvSpPr>
        <p:spPr>
          <a:xfrm>
            <a:off x="409762" y="1718188"/>
            <a:ext cx="7664624" cy="16006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Lora"/>
                <a:ea typeface="+mn-lt"/>
                <a:cs typeface="+mn-lt"/>
              </a:rPr>
              <a:t>KEY RESPONSIBILITIES OF DBT :</a:t>
            </a:r>
          </a:p>
          <a:p>
            <a:pPr marL="285750" indent="-285750">
              <a:lnSpc>
                <a:spcPct val="150000"/>
              </a:lnSpc>
              <a:buFont typeface="Arial"/>
              <a:buChar char="•"/>
            </a:pPr>
            <a:r>
              <a:rPr lang="en-US" sz="1400">
                <a:ea typeface="+mn-lt"/>
                <a:cs typeface="+mn-lt"/>
              </a:rPr>
              <a:t>SQL-based transformations</a:t>
            </a:r>
            <a:endParaRPr lang="en-US" sz="1400" dirty="0">
              <a:ea typeface="+mn-lt"/>
              <a:cs typeface="+mn-lt"/>
            </a:endParaRPr>
          </a:p>
          <a:p>
            <a:pPr marL="285750" indent="-285750">
              <a:lnSpc>
                <a:spcPct val="150000"/>
              </a:lnSpc>
              <a:buFont typeface="Arial"/>
              <a:buChar char="•"/>
            </a:pPr>
            <a:r>
              <a:rPr lang="en-US" sz="1400">
                <a:ea typeface="+mn-lt"/>
                <a:cs typeface="+mn-lt"/>
              </a:rPr>
              <a:t>Model dependency management</a:t>
            </a:r>
            <a:endParaRPr lang="en-US" sz="1400">
              <a:cs typeface="Poppins Light"/>
            </a:endParaRPr>
          </a:p>
          <a:p>
            <a:pPr marL="285750" indent="-285750">
              <a:lnSpc>
                <a:spcPct val="150000"/>
              </a:lnSpc>
              <a:buFont typeface="Arial"/>
              <a:buChar char="•"/>
            </a:pPr>
            <a:r>
              <a:rPr lang="en-US" sz="1400">
                <a:ea typeface="+mn-lt"/>
                <a:cs typeface="+mn-lt"/>
              </a:rPr>
              <a:t>Incremental data loading</a:t>
            </a:r>
            <a:endParaRPr lang="en-US" sz="1400">
              <a:cs typeface="Poppins Light"/>
            </a:endParaRPr>
          </a:p>
          <a:p>
            <a:pPr marL="285750" indent="-285750">
              <a:lnSpc>
                <a:spcPct val="150000"/>
              </a:lnSpc>
              <a:buFont typeface="Arial"/>
              <a:buChar char="•"/>
            </a:pPr>
            <a:r>
              <a:rPr lang="en-US" sz="1400" dirty="0">
                <a:ea typeface="+mn-lt"/>
                <a:cs typeface="+mn-lt"/>
              </a:rPr>
              <a:t>Data testing and </a:t>
            </a:r>
            <a:r>
              <a:rPr lang="en-US" sz="1400">
                <a:ea typeface="+mn-lt"/>
                <a:cs typeface="+mn-lt"/>
              </a:rPr>
              <a:t>validation</a:t>
            </a:r>
            <a:endParaRPr lang="en-US" sz="1400" dirty="0">
              <a:cs typeface="Poppins Light"/>
            </a:endParaRPr>
          </a:p>
        </p:txBody>
      </p:sp>
      <p:sp>
        <p:nvSpPr>
          <p:cNvPr id="4" name="TextBox 3">
            <a:extLst>
              <a:ext uri="{FF2B5EF4-FFF2-40B4-BE49-F238E27FC236}">
                <a16:creationId xmlns:a16="http://schemas.microsoft.com/office/drawing/2014/main" id="{C0B8748E-792A-9D48-D853-07FE0FD0B2C7}"/>
              </a:ext>
            </a:extLst>
          </p:cNvPr>
          <p:cNvSpPr txBox="1"/>
          <p:nvPr/>
        </p:nvSpPr>
        <p:spPr>
          <a:xfrm>
            <a:off x="410691" y="3543409"/>
            <a:ext cx="8465787" cy="41857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400" b="1">
                <a:latin typeface="Lora"/>
                <a:cs typeface="Poppins Light"/>
              </a:rPr>
              <a:t>INCREMENTAL PROCESSING STRATEGY</a:t>
            </a:r>
          </a:p>
          <a:p>
            <a:r>
              <a:rPr lang="en-US" sz="1400" dirty="0">
                <a:cs typeface="Poppins Light"/>
              </a:rPr>
              <a:t>To optimize performance, tables were built using </a:t>
            </a:r>
            <a:r>
              <a:rPr lang="en-US" sz="1400" b="1" dirty="0">
                <a:cs typeface="Poppins Light"/>
              </a:rPr>
              <a:t>incremental materialization</a:t>
            </a:r>
            <a:r>
              <a:rPr lang="en-US" sz="1400" dirty="0">
                <a:cs typeface="Poppins Light"/>
              </a:rPr>
              <a:t>.</a:t>
            </a:r>
          </a:p>
          <a:p>
            <a:endParaRPr lang="en-US" sz="1400" dirty="0">
              <a:cs typeface="Poppins Light"/>
            </a:endParaRPr>
          </a:p>
          <a:p>
            <a:r>
              <a:rPr lang="en-US" sz="1400" b="1" dirty="0">
                <a:cs typeface="Poppins Light"/>
              </a:rPr>
              <a:t>Strategy used </a:t>
            </a:r>
            <a:r>
              <a:rPr lang="en-US" sz="1400" dirty="0">
                <a:cs typeface="Poppins Light"/>
              </a:rPr>
              <a:t>: </a:t>
            </a:r>
            <a:r>
              <a:rPr lang="en-US" sz="1400" i="1" dirty="0">
                <a:cs typeface="Poppins Light"/>
              </a:rPr>
              <a:t>delete + insert</a:t>
            </a:r>
            <a:endParaRPr lang="en-US" sz="1400" i="1">
              <a:cs typeface="Poppins Light"/>
            </a:endParaRPr>
          </a:p>
          <a:p>
            <a:endParaRPr lang="en-US" sz="1400" b="1" dirty="0">
              <a:cs typeface="Poppins Light"/>
            </a:endParaRPr>
          </a:p>
          <a:p>
            <a:r>
              <a:rPr lang="en-US" sz="1400">
                <a:cs typeface="Poppins Light"/>
              </a:rPr>
              <a:t>This approach:</a:t>
            </a:r>
            <a:endParaRPr lang="en-US" sz="1400" dirty="0">
              <a:cs typeface="Poppins Light"/>
            </a:endParaRPr>
          </a:p>
          <a:p>
            <a:pPr marL="285750" indent="-285750">
              <a:lnSpc>
                <a:spcPct val="150000"/>
              </a:lnSpc>
              <a:buFont typeface="Arial,Sans-Serif"/>
              <a:buChar char="•"/>
            </a:pPr>
            <a:r>
              <a:rPr lang="en-US" sz="1400">
                <a:cs typeface="Poppins Light"/>
              </a:rPr>
              <a:t>Deletes existing records matching the unique key</a:t>
            </a:r>
            <a:endParaRPr lang="en-US" sz="1400" dirty="0">
              <a:cs typeface="Poppins Light"/>
            </a:endParaRPr>
          </a:p>
          <a:p>
            <a:pPr marL="285750" indent="-285750">
              <a:lnSpc>
                <a:spcPct val="150000"/>
              </a:lnSpc>
              <a:buFont typeface="Arial,Sans-Serif"/>
              <a:buChar char="•"/>
            </a:pPr>
            <a:r>
              <a:rPr lang="en-US" sz="1400">
                <a:cs typeface="Poppins Light"/>
              </a:rPr>
              <a:t>Inserts updated records from the source</a:t>
            </a:r>
            <a:endParaRPr lang="en-US" sz="1400" dirty="0">
              <a:cs typeface="Poppins Light"/>
            </a:endParaRPr>
          </a:p>
          <a:p>
            <a:pPr marL="285750" indent="-285750">
              <a:lnSpc>
                <a:spcPct val="150000"/>
              </a:lnSpc>
              <a:buFont typeface="Arial,Sans-Serif"/>
              <a:buChar char="•"/>
            </a:pPr>
            <a:endParaRPr lang="en-US" sz="1400" dirty="0">
              <a:cs typeface="Poppins Light"/>
            </a:endParaRPr>
          </a:p>
          <a:p>
            <a:r>
              <a:rPr lang="en-US" sz="1400">
                <a:cs typeface="Poppins Light"/>
              </a:rPr>
              <a:t>Benefits:</a:t>
            </a:r>
            <a:endParaRPr lang="en-US" sz="1400" dirty="0">
              <a:cs typeface="Poppins Light"/>
            </a:endParaRPr>
          </a:p>
          <a:p>
            <a:pPr marL="285750" indent="-285750">
              <a:lnSpc>
                <a:spcPct val="150000"/>
              </a:lnSpc>
              <a:buFont typeface="Arial,Sans-Serif"/>
              <a:buChar char="•"/>
            </a:pPr>
            <a:r>
              <a:rPr lang="en-US" sz="1400">
                <a:cs typeface="Poppins Light"/>
              </a:rPr>
              <a:t>Avoids full table rebuilds</a:t>
            </a:r>
            <a:endParaRPr lang="en-US" sz="1400" dirty="0">
              <a:cs typeface="Poppins Light"/>
            </a:endParaRPr>
          </a:p>
          <a:p>
            <a:pPr marL="285750" indent="-285750">
              <a:lnSpc>
                <a:spcPct val="150000"/>
              </a:lnSpc>
              <a:buFont typeface="Arial,Sans-Serif"/>
              <a:buChar char="•"/>
            </a:pPr>
            <a:r>
              <a:rPr lang="en-US" sz="1400" dirty="0">
                <a:cs typeface="Poppins Light"/>
              </a:rPr>
              <a:t>Efficient updates &amp; Maintains consistency with source data</a:t>
            </a:r>
          </a:p>
          <a:p>
            <a:pPr>
              <a:lnSpc>
                <a:spcPct val="150000"/>
              </a:lnSpc>
            </a:pPr>
            <a:endParaRPr lang="en-US" sz="1400" dirty="0">
              <a:cs typeface="Poppins Light"/>
            </a:endParaRPr>
          </a:p>
          <a:p>
            <a:pPr marL="285750" indent="-285750">
              <a:lnSpc>
                <a:spcPct val="150000"/>
              </a:lnSpc>
              <a:buFont typeface="Arial,Sans-Serif"/>
              <a:buChar char="•"/>
            </a:pPr>
            <a:endParaRPr lang="en-US" sz="1400" dirty="0">
              <a:cs typeface="Poppins Light"/>
            </a:endParaRPr>
          </a:p>
          <a:p>
            <a:endParaRPr lang="en-US" sz="1400" dirty="0">
              <a:cs typeface="Poppins Light"/>
            </a:endParaRPr>
          </a:p>
        </p:txBody>
      </p:sp>
    </p:spTree>
    <p:extLst>
      <p:ext uri="{BB962C8B-B14F-4D97-AF65-F5344CB8AC3E}">
        <p14:creationId xmlns:p14="http://schemas.microsoft.com/office/powerpoint/2010/main" val="1322013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E205F-F72B-EA71-BBE5-64B7CCFF1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62B9D0-6BCA-C887-C8B7-FF392CA069F1}"/>
              </a:ext>
            </a:extLst>
          </p:cNvPr>
          <p:cNvSpPr>
            <a:spLocks noGrp="1"/>
          </p:cNvSpPr>
          <p:nvPr>
            <p:ph type="title"/>
          </p:nvPr>
        </p:nvSpPr>
        <p:spPr>
          <a:xfrm>
            <a:off x="1491428" y="1979382"/>
            <a:ext cx="7612657" cy="2538360"/>
          </a:xfrm>
        </p:spPr>
        <p:txBody>
          <a:bodyPr>
            <a:normAutofit/>
          </a:bodyPr>
          <a:lstStyle/>
          <a:p>
            <a:r>
              <a:rPr lang="en-US" sz="4500">
                <a:ea typeface="+mj-lt"/>
                <a:cs typeface="+mj-lt"/>
              </a:rPr>
              <a:t>Report Implementation</a:t>
            </a:r>
            <a:endParaRPr lang="en-US"/>
          </a:p>
        </p:txBody>
      </p:sp>
      <p:sp>
        <p:nvSpPr>
          <p:cNvPr id="3" name="Subtitle 2">
            <a:extLst>
              <a:ext uri="{FF2B5EF4-FFF2-40B4-BE49-F238E27FC236}">
                <a16:creationId xmlns:a16="http://schemas.microsoft.com/office/drawing/2014/main" id="{4D9282E0-00CE-E195-040F-9DD4F2D46ECA}"/>
              </a:ext>
            </a:extLst>
          </p:cNvPr>
          <p:cNvSpPr>
            <a:spLocks noGrp="1"/>
          </p:cNvSpPr>
          <p:nvPr>
            <p:ph type="body" sz="quarter" idx="13"/>
          </p:nvPr>
        </p:nvSpPr>
        <p:spPr>
          <a:xfrm>
            <a:off x="8819198" y="4902800"/>
            <a:ext cx="3024899" cy="1291545"/>
          </a:xfrm>
        </p:spPr>
        <p:txBody>
          <a:bodyPr vert="horz" lIns="91440" tIns="45720" rIns="91440" bIns="45720" rtlCol="0" anchor="t">
            <a:noAutofit/>
          </a:bodyPr>
          <a:lstStyle/>
          <a:p>
            <a:pPr>
              <a:lnSpc>
                <a:spcPct val="100000"/>
              </a:lnSpc>
            </a:pPr>
            <a:endParaRPr lang="en-US" sz="1500" dirty="0">
              <a:cs typeface="Poppins Light"/>
            </a:endParaRPr>
          </a:p>
          <a:p>
            <a:pPr>
              <a:lnSpc>
                <a:spcPct val="100000"/>
              </a:lnSpc>
            </a:pPr>
            <a:endParaRPr lang="en-US" sz="1500" dirty="0">
              <a:cs typeface="Poppins Light"/>
            </a:endParaRPr>
          </a:p>
        </p:txBody>
      </p:sp>
    </p:spTree>
    <p:extLst>
      <p:ext uri="{BB962C8B-B14F-4D97-AF65-F5344CB8AC3E}">
        <p14:creationId xmlns:p14="http://schemas.microsoft.com/office/powerpoint/2010/main" val="1906353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A3B66-901C-7444-C5EC-5BF859DDF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9CE20-943A-D0F8-135A-760A766FF67F}"/>
              </a:ext>
            </a:extLst>
          </p:cNvPr>
          <p:cNvSpPr>
            <a:spLocks noGrp="1"/>
          </p:cNvSpPr>
          <p:nvPr>
            <p:ph type="title"/>
          </p:nvPr>
        </p:nvSpPr>
        <p:spPr>
          <a:xfrm>
            <a:off x="323861" y="40980"/>
            <a:ext cx="8467558" cy="976094"/>
          </a:xfrm>
        </p:spPr>
        <p:txBody>
          <a:bodyPr>
            <a:normAutofit/>
          </a:bodyPr>
          <a:lstStyle/>
          <a:p>
            <a:r>
              <a:rPr lang="en-US" sz="2200">
                <a:latin typeface="Lora"/>
                <a:cs typeface="Poppins Light"/>
              </a:rPr>
              <a:t>Report</a:t>
            </a:r>
            <a:endParaRPr lang="en-US" sz="2200" dirty="0">
              <a:latin typeface="Lora"/>
              <a:cs typeface="Poppins Light"/>
            </a:endParaRPr>
          </a:p>
        </p:txBody>
      </p:sp>
      <p:sp>
        <p:nvSpPr>
          <p:cNvPr id="3" name="Content Placeholder 2">
            <a:extLst>
              <a:ext uri="{FF2B5EF4-FFF2-40B4-BE49-F238E27FC236}">
                <a16:creationId xmlns:a16="http://schemas.microsoft.com/office/drawing/2014/main" id="{3638B92F-851B-BCB9-A906-1E47B1014774}"/>
              </a:ext>
            </a:extLst>
          </p:cNvPr>
          <p:cNvSpPr>
            <a:spLocks noGrp="1"/>
          </p:cNvSpPr>
          <p:nvPr>
            <p:ph sz="quarter" idx="13"/>
          </p:nvPr>
        </p:nvSpPr>
        <p:spPr>
          <a:xfrm>
            <a:off x="323861" y="1011835"/>
            <a:ext cx="9110208" cy="513379"/>
          </a:xfrm>
        </p:spPr>
        <p:txBody>
          <a:bodyPr vert="horz" lIns="91440" tIns="45720" rIns="91440" bIns="45720" rtlCol="0" anchor="t">
            <a:noAutofit/>
          </a:bodyPr>
          <a:lstStyle/>
          <a:p>
            <a:pPr>
              <a:buNone/>
            </a:pPr>
            <a:r>
              <a:rPr lang="en-US" sz="1400">
                <a:ea typeface="+mn-lt"/>
                <a:cs typeface="+mn-lt"/>
              </a:rPr>
              <a:t>Monthly Donation Trends by Blood Type</a:t>
            </a:r>
            <a:endParaRPr lang="en-US" sz="1400">
              <a:cs typeface="Poppins Light"/>
            </a:endParaRPr>
          </a:p>
        </p:txBody>
      </p:sp>
      <p:sp>
        <p:nvSpPr>
          <p:cNvPr id="5" name="TextBox 4">
            <a:extLst>
              <a:ext uri="{FF2B5EF4-FFF2-40B4-BE49-F238E27FC236}">
                <a16:creationId xmlns:a16="http://schemas.microsoft.com/office/drawing/2014/main" id="{D0B43B0D-2261-807D-BEB7-88C35621DD25}"/>
              </a:ext>
            </a:extLst>
          </p:cNvPr>
          <p:cNvSpPr txBox="1"/>
          <p:nvPr/>
        </p:nvSpPr>
        <p:spPr>
          <a:xfrm>
            <a:off x="322952" y="1853226"/>
            <a:ext cx="5610118" cy="26468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Lora"/>
              </a:rPr>
              <a:t>WHAT THIS REPORT SHOWS</a:t>
            </a:r>
          </a:p>
          <a:p>
            <a:endParaRPr lang="en-US" dirty="0">
              <a:latin typeface="Lora"/>
              <a:ea typeface="+mn-lt"/>
              <a:cs typeface="+mn-lt"/>
            </a:endParaRPr>
          </a:p>
          <a:p>
            <a:r>
              <a:rPr lang="en-US" sz="1400" dirty="0">
                <a:ea typeface="+mn-lt"/>
                <a:cs typeface="+mn-lt"/>
              </a:rPr>
              <a:t>This report analyzes the </a:t>
            </a:r>
            <a:r>
              <a:rPr lang="en-US" sz="1400" b="1">
                <a:ea typeface="+mn-lt"/>
                <a:cs typeface="+mn-lt"/>
              </a:rPr>
              <a:t>number of blood donations per month categorized by blood group</a:t>
            </a:r>
            <a:r>
              <a:rPr lang="en-US" sz="1400">
                <a:ea typeface="+mn-lt"/>
                <a:cs typeface="+mn-lt"/>
              </a:rPr>
              <a:t>.</a:t>
            </a:r>
          </a:p>
          <a:p>
            <a:br>
              <a:rPr lang="en-US" sz="1400" dirty="0">
                <a:ea typeface="+mn-lt"/>
                <a:cs typeface="+mn-lt"/>
              </a:rPr>
            </a:br>
            <a:r>
              <a:rPr lang="en-US" sz="1400" dirty="0">
                <a:ea typeface="+mn-lt"/>
                <a:cs typeface="+mn-lt"/>
              </a:rPr>
              <a:t> It helps identify </a:t>
            </a:r>
            <a:r>
              <a:rPr lang="en-US" sz="1400" b="1" dirty="0">
                <a:ea typeface="+mn-lt"/>
                <a:cs typeface="+mn-lt"/>
              </a:rPr>
              <a:t>seasonal donation patterns and availability of different blood types over time</a:t>
            </a:r>
            <a:r>
              <a:rPr lang="en-US" sz="1400" dirty="0">
                <a:ea typeface="+mn-lt"/>
                <a:cs typeface="+mn-lt"/>
              </a:rPr>
              <a:t>.</a:t>
            </a:r>
            <a:endParaRPr lang="en-US" sz="1400">
              <a:cs typeface="Poppins Light"/>
            </a:endParaRPr>
          </a:p>
          <a:p>
            <a:endParaRPr lang="en-US" sz="1400" dirty="0">
              <a:ea typeface="+mn-lt"/>
              <a:cs typeface="+mn-lt"/>
            </a:endParaRPr>
          </a:p>
          <a:p>
            <a:r>
              <a:rPr lang="en-US" sz="1400">
                <a:ea typeface="+mn-lt"/>
                <a:cs typeface="+mn-lt"/>
              </a:rPr>
              <a:t>The analysis aggregates donation events by </a:t>
            </a:r>
            <a:r>
              <a:rPr lang="en-US" sz="1400" b="1">
                <a:ea typeface="+mn-lt"/>
                <a:cs typeface="+mn-lt"/>
              </a:rPr>
              <a:t>year, month, and donor blood group</a:t>
            </a:r>
            <a:r>
              <a:rPr lang="en-US" sz="1400">
                <a:ea typeface="+mn-lt"/>
                <a:cs typeface="+mn-lt"/>
              </a:rPr>
              <a:t> to understand donation trends.</a:t>
            </a:r>
            <a:endParaRPr lang="en-US" sz="1400">
              <a:cs typeface="Poppins Light"/>
            </a:endParaRPr>
          </a:p>
          <a:p>
            <a:endParaRPr lang="en-US" sz="1400" b="1" dirty="0">
              <a:latin typeface="Lora"/>
              <a:cs typeface="Poppins Light"/>
            </a:endParaRPr>
          </a:p>
        </p:txBody>
      </p:sp>
      <p:sp>
        <p:nvSpPr>
          <p:cNvPr id="4" name="TextBox 3">
            <a:extLst>
              <a:ext uri="{FF2B5EF4-FFF2-40B4-BE49-F238E27FC236}">
                <a16:creationId xmlns:a16="http://schemas.microsoft.com/office/drawing/2014/main" id="{8EC6E522-9383-D009-8A17-44424B0DBF9B}"/>
              </a:ext>
            </a:extLst>
          </p:cNvPr>
          <p:cNvSpPr txBox="1"/>
          <p:nvPr/>
        </p:nvSpPr>
        <p:spPr>
          <a:xfrm>
            <a:off x="323880" y="4768397"/>
            <a:ext cx="5871129" cy="22890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Lora"/>
              </a:rPr>
              <a:t>FACTS AND DIMENSIONS USED</a:t>
            </a:r>
          </a:p>
          <a:p>
            <a:endParaRPr lang="en-US" dirty="0">
              <a:ea typeface="+mn-lt"/>
              <a:cs typeface="+mn-lt"/>
            </a:endParaRPr>
          </a:p>
          <a:p>
            <a:r>
              <a:rPr lang="en-US" sz="1400" dirty="0" err="1">
                <a:latin typeface="Poppins Light"/>
                <a:cs typeface="Poppins Light"/>
              </a:rPr>
              <a:t>fct_donations</a:t>
            </a:r>
            <a:endParaRPr lang="en-US">
              <a:latin typeface="Poppins Light"/>
              <a:cs typeface="Poppins Light"/>
            </a:endParaRPr>
          </a:p>
          <a:p>
            <a:endParaRPr lang="en-US" sz="1400" dirty="0">
              <a:cs typeface="Poppins Light"/>
            </a:endParaRPr>
          </a:p>
          <a:p>
            <a:r>
              <a:rPr lang="en-US" sz="1400" dirty="0" err="1">
                <a:latin typeface="Poppins Light"/>
                <a:cs typeface="Poppins Light"/>
              </a:rPr>
              <a:t>dim_donor</a:t>
            </a:r>
            <a:endParaRPr lang="en-US">
              <a:latin typeface="Poppins Light"/>
              <a:cs typeface="Poppins Light"/>
            </a:endParaRPr>
          </a:p>
          <a:p>
            <a:endParaRPr lang="en-US" sz="1400" dirty="0">
              <a:cs typeface="Poppins Light"/>
            </a:endParaRPr>
          </a:p>
          <a:p>
            <a:r>
              <a:rPr lang="en-US" sz="1400" dirty="0" err="1">
                <a:latin typeface="Poppins Light"/>
                <a:cs typeface="Poppins Light"/>
              </a:rPr>
              <a:t>dim_date</a:t>
            </a:r>
            <a:endParaRPr lang="en-US">
              <a:latin typeface="Poppins Light"/>
              <a:cs typeface="Poppins Light"/>
            </a:endParaRPr>
          </a:p>
          <a:p>
            <a:endParaRPr lang="en-US" sz="1400" dirty="0">
              <a:cs typeface="Poppins Light"/>
            </a:endParaRPr>
          </a:p>
          <a:p>
            <a:pPr>
              <a:lnSpc>
                <a:spcPct val="150000"/>
              </a:lnSpc>
            </a:pPr>
            <a:endParaRPr lang="en-US" sz="1400" b="1" dirty="0">
              <a:latin typeface="Lora"/>
              <a:cs typeface="Poppins Light"/>
            </a:endParaRPr>
          </a:p>
        </p:txBody>
      </p:sp>
      <p:pic>
        <p:nvPicPr>
          <p:cNvPr id="8" name="Picture 7" descr="A screenshot of a graph&#10;&#10;AI-generated content may be incorrect.">
            <a:extLst>
              <a:ext uri="{FF2B5EF4-FFF2-40B4-BE49-F238E27FC236}">
                <a16:creationId xmlns:a16="http://schemas.microsoft.com/office/drawing/2014/main" id="{CB3C34F2-9F2A-C4FA-C6A5-E20ED43F88D7}"/>
              </a:ext>
            </a:extLst>
          </p:cNvPr>
          <p:cNvPicPr>
            <a:picLocks noChangeAspect="1"/>
          </p:cNvPicPr>
          <p:nvPr/>
        </p:nvPicPr>
        <p:blipFill>
          <a:blip r:embed="rId2"/>
          <a:stretch>
            <a:fillRect/>
          </a:stretch>
        </p:blipFill>
        <p:spPr>
          <a:xfrm>
            <a:off x="6097265" y="1717514"/>
            <a:ext cx="5505088" cy="3268642"/>
          </a:xfrm>
          <a:prstGeom prst="rect">
            <a:avLst/>
          </a:prstGeom>
        </p:spPr>
      </p:pic>
    </p:spTree>
    <p:extLst>
      <p:ext uri="{BB962C8B-B14F-4D97-AF65-F5344CB8AC3E}">
        <p14:creationId xmlns:p14="http://schemas.microsoft.com/office/powerpoint/2010/main" val="2660522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72A9B-706F-5318-8918-AB40C180D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2FEDA-2601-A7D6-0B9A-E5E141CF973D}"/>
              </a:ext>
            </a:extLst>
          </p:cNvPr>
          <p:cNvSpPr>
            <a:spLocks noGrp="1"/>
          </p:cNvSpPr>
          <p:nvPr>
            <p:ph type="title"/>
          </p:nvPr>
        </p:nvSpPr>
        <p:spPr>
          <a:xfrm>
            <a:off x="323861" y="40980"/>
            <a:ext cx="8467558" cy="976094"/>
          </a:xfrm>
        </p:spPr>
        <p:txBody>
          <a:bodyPr>
            <a:normAutofit/>
          </a:bodyPr>
          <a:lstStyle/>
          <a:p>
            <a:r>
              <a:rPr lang="en-US" sz="2200">
                <a:latin typeface="Lora"/>
                <a:cs typeface="Poppins Light"/>
              </a:rPr>
              <a:t>Report</a:t>
            </a:r>
            <a:endParaRPr lang="en-US" sz="2200" dirty="0">
              <a:latin typeface="Lora"/>
              <a:cs typeface="Poppins Light"/>
            </a:endParaRPr>
          </a:p>
        </p:txBody>
      </p:sp>
      <p:sp>
        <p:nvSpPr>
          <p:cNvPr id="3" name="Content Placeholder 2">
            <a:extLst>
              <a:ext uri="{FF2B5EF4-FFF2-40B4-BE49-F238E27FC236}">
                <a16:creationId xmlns:a16="http://schemas.microsoft.com/office/drawing/2014/main" id="{97DB36D3-DA5B-8886-23AE-A5D194A01324}"/>
              </a:ext>
            </a:extLst>
          </p:cNvPr>
          <p:cNvSpPr>
            <a:spLocks noGrp="1"/>
          </p:cNvSpPr>
          <p:nvPr>
            <p:ph sz="quarter" idx="13"/>
          </p:nvPr>
        </p:nvSpPr>
        <p:spPr>
          <a:xfrm>
            <a:off x="323861" y="1011835"/>
            <a:ext cx="9110208" cy="513379"/>
          </a:xfrm>
        </p:spPr>
        <p:txBody>
          <a:bodyPr vert="horz" lIns="91440" tIns="45720" rIns="91440" bIns="45720" rtlCol="0" anchor="t">
            <a:noAutofit/>
          </a:bodyPr>
          <a:lstStyle/>
          <a:p>
            <a:pPr>
              <a:buNone/>
            </a:pPr>
            <a:r>
              <a:rPr lang="en-US" sz="1400">
                <a:ea typeface="+mn-lt"/>
                <a:cs typeface="+mn-lt"/>
              </a:rPr>
              <a:t>Donor Distribution by Blood Group</a:t>
            </a:r>
            <a:endParaRPr lang="en-US"/>
          </a:p>
        </p:txBody>
      </p:sp>
      <p:sp>
        <p:nvSpPr>
          <p:cNvPr id="5" name="TextBox 4">
            <a:extLst>
              <a:ext uri="{FF2B5EF4-FFF2-40B4-BE49-F238E27FC236}">
                <a16:creationId xmlns:a16="http://schemas.microsoft.com/office/drawing/2014/main" id="{18CAD429-6E4F-FE04-CE10-5715215DFBD0}"/>
              </a:ext>
            </a:extLst>
          </p:cNvPr>
          <p:cNvSpPr txBox="1"/>
          <p:nvPr/>
        </p:nvSpPr>
        <p:spPr>
          <a:xfrm>
            <a:off x="322952" y="1853226"/>
            <a:ext cx="6063459" cy="29142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Lora"/>
              </a:rPr>
              <a:t>WHAT THIS REPORT SHOWS</a:t>
            </a:r>
          </a:p>
          <a:p>
            <a:endParaRPr lang="en-US" sz="2200" dirty="0">
              <a:latin typeface="Lora"/>
              <a:ea typeface="+mn-lt"/>
              <a:cs typeface="+mn-lt"/>
            </a:endParaRPr>
          </a:p>
          <a:p>
            <a:r>
              <a:rPr lang="en-US" sz="1400">
                <a:ea typeface="+mn-lt"/>
                <a:cs typeface="+mn-lt"/>
              </a:rPr>
              <a:t>This report analyzes the </a:t>
            </a:r>
            <a:r>
              <a:rPr lang="en-US" sz="1400" b="1">
                <a:ea typeface="+mn-lt"/>
                <a:cs typeface="+mn-lt"/>
              </a:rPr>
              <a:t>number of registered donors for each blood group</a:t>
            </a:r>
            <a:r>
              <a:rPr lang="en-US" sz="1400">
                <a:ea typeface="+mn-lt"/>
                <a:cs typeface="+mn-lt"/>
              </a:rPr>
              <a:t> in the system.</a:t>
            </a:r>
            <a:br>
              <a:rPr lang="en-US" sz="1400" dirty="0">
                <a:ea typeface="+mn-lt"/>
                <a:cs typeface="+mn-lt"/>
              </a:rPr>
            </a:br>
            <a:r>
              <a:rPr lang="en-US" sz="1400">
                <a:ea typeface="+mn-lt"/>
                <a:cs typeface="+mn-lt"/>
              </a:rPr>
              <a:t> It helps understand the </a:t>
            </a:r>
            <a:r>
              <a:rPr lang="en-US" sz="1400" b="1">
                <a:ea typeface="+mn-lt"/>
                <a:cs typeface="+mn-lt"/>
              </a:rPr>
              <a:t>availability of donors across different blood types</a:t>
            </a:r>
            <a:r>
              <a:rPr lang="en-US" sz="1400">
                <a:ea typeface="+mn-lt"/>
                <a:cs typeface="+mn-lt"/>
              </a:rPr>
              <a:t>.</a:t>
            </a:r>
            <a:endParaRPr lang="en-US"/>
          </a:p>
          <a:p>
            <a:endParaRPr lang="en-US" sz="1400" dirty="0">
              <a:ea typeface="+mn-lt"/>
              <a:cs typeface="+mn-lt"/>
            </a:endParaRPr>
          </a:p>
          <a:p>
            <a:r>
              <a:rPr lang="en-US" sz="1400">
                <a:ea typeface="+mn-lt"/>
                <a:cs typeface="+mn-lt"/>
              </a:rPr>
              <a:t>The analysis considers </a:t>
            </a:r>
            <a:r>
              <a:rPr lang="en-US" sz="1400" b="1">
                <a:ea typeface="+mn-lt"/>
                <a:cs typeface="+mn-lt"/>
              </a:rPr>
              <a:t>only the current active records</a:t>
            </a:r>
            <a:r>
              <a:rPr lang="en-US" sz="1400">
                <a:ea typeface="+mn-lt"/>
                <a:cs typeface="+mn-lt"/>
              </a:rPr>
              <a:t> from the donor dimension to avoid counting historical versions created by SCD Type 2.</a:t>
            </a:r>
          </a:p>
          <a:p>
            <a:endParaRPr lang="en-US" sz="1400" dirty="0">
              <a:latin typeface="Lora"/>
              <a:cs typeface="Poppins Light"/>
            </a:endParaRPr>
          </a:p>
          <a:p>
            <a:endParaRPr lang="en-US" sz="1400" b="1" dirty="0">
              <a:latin typeface="Lora"/>
              <a:cs typeface="Poppins Light"/>
            </a:endParaRPr>
          </a:p>
        </p:txBody>
      </p:sp>
      <p:sp>
        <p:nvSpPr>
          <p:cNvPr id="4" name="TextBox 3">
            <a:extLst>
              <a:ext uri="{FF2B5EF4-FFF2-40B4-BE49-F238E27FC236}">
                <a16:creationId xmlns:a16="http://schemas.microsoft.com/office/drawing/2014/main" id="{05F358A9-C662-950A-FADB-D291E8A9E8F0}"/>
              </a:ext>
            </a:extLst>
          </p:cNvPr>
          <p:cNvSpPr txBox="1"/>
          <p:nvPr/>
        </p:nvSpPr>
        <p:spPr>
          <a:xfrm>
            <a:off x="323880" y="4768397"/>
            <a:ext cx="5871129" cy="18581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Lora"/>
              </a:rPr>
              <a:t>FACTS AND DIMENSIONS USED</a:t>
            </a:r>
          </a:p>
          <a:p>
            <a:endParaRPr lang="en-US" dirty="0">
              <a:ea typeface="+mn-lt"/>
              <a:cs typeface="+mn-lt"/>
            </a:endParaRPr>
          </a:p>
          <a:p>
            <a:r>
              <a:rPr lang="en-US" sz="1400" dirty="0" err="1">
                <a:latin typeface="Poppins Light"/>
                <a:cs typeface="Poppins Light"/>
              </a:rPr>
              <a:t>dim_donor</a:t>
            </a:r>
            <a:endParaRPr lang="en-US">
              <a:latin typeface="Poppins Light"/>
              <a:cs typeface="Poppins Light"/>
            </a:endParaRPr>
          </a:p>
          <a:p>
            <a:endParaRPr lang="en-US" sz="1400" dirty="0">
              <a:cs typeface="Poppins Light"/>
            </a:endParaRPr>
          </a:p>
          <a:p>
            <a:endParaRPr lang="en-US" sz="1400" dirty="0">
              <a:latin typeface="Poppins Light"/>
              <a:cs typeface="Poppins Light"/>
            </a:endParaRPr>
          </a:p>
          <a:p>
            <a:endParaRPr lang="en-US" sz="1400" dirty="0">
              <a:cs typeface="Poppins Light"/>
            </a:endParaRPr>
          </a:p>
          <a:p>
            <a:pPr>
              <a:lnSpc>
                <a:spcPct val="150000"/>
              </a:lnSpc>
            </a:pPr>
            <a:endParaRPr lang="en-US" sz="1400" b="1" dirty="0">
              <a:latin typeface="Lora"/>
              <a:cs typeface="Poppins Light"/>
            </a:endParaRPr>
          </a:p>
        </p:txBody>
      </p:sp>
      <p:pic>
        <p:nvPicPr>
          <p:cNvPr id="6" name="Picture 5">
            <a:extLst>
              <a:ext uri="{FF2B5EF4-FFF2-40B4-BE49-F238E27FC236}">
                <a16:creationId xmlns:a16="http://schemas.microsoft.com/office/drawing/2014/main" id="{538E7CB4-FAA1-A985-1602-DF89A9D2095F}"/>
              </a:ext>
            </a:extLst>
          </p:cNvPr>
          <p:cNvPicPr>
            <a:picLocks noChangeAspect="1"/>
          </p:cNvPicPr>
          <p:nvPr/>
        </p:nvPicPr>
        <p:blipFill>
          <a:blip r:embed="rId2"/>
          <a:stretch>
            <a:fillRect/>
          </a:stretch>
        </p:blipFill>
        <p:spPr>
          <a:xfrm>
            <a:off x="7092206" y="2122629"/>
            <a:ext cx="4238625" cy="2381250"/>
          </a:xfrm>
          <a:prstGeom prst="rect">
            <a:avLst/>
          </a:prstGeom>
        </p:spPr>
      </p:pic>
    </p:spTree>
    <p:extLst>
      <p:ext uri="{BB962C8B-B14F-4D97-AF65-F5344CB8AC3E}">
        <p14:creationId xmlns:p14="http://schemas.microsoft.com/office/powerpoint/2010/main" val="1177749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2E2A3-D674-6FF9-0271-942101A21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3A408-23F9-C0E6-6517-F14FF32539BD}"/>
              </a:ext>
            </a:extLst>
          </p:cNvPr>
          <p:cNvSpPr>
            <a:spLocks noGrp="1"/>
          </p:cNvSpPr>
          <p:nvPr>
            <p:ph type="title"/>
          </p:nvPr>
        </p:nvSpPr>
        <p:spPr>
          <a:xfrm>
            <a:off x="323861" y="40980"/>
            <a:ext cx="8467558" cy="976094"/>
          </a:xfrm>
        </p:spPr>
        <p:txBody>
          <a:bodyPr>
            <a:normAutofit/>
          </a:bodyPr>
          <a:lstStyle/>
          <a:p>
            <a:r>
              <a:rPr lang="en-US" sz="2200">
                <a:latin typeface="Lora"/>
                <a:cs typeface="Poppins Light"/>
              </a:rPr>
              <a:t>Report</a:t>
            </a:r>
            <a:endParaRPr lang="en-US" sz="2200" dirty="0">
              <a:latin typeface="Lora"/>
              <a:cs typeface="Poppins Light"/>
            </a:endParaRPr>
          </a:p>
        </p:txBody>
      </p:sp>
      <p:sp>
        <p:nvSpPr>
          <p:cNvPr id="3" name="Content Placeholder 2">
            <a:extLst>
              <a:ext uri="{FF2B5EF4-FFF2-40B4-BE49-F238E27FC236}">
                <a16:creationId xmlns:a16="http://schemas.microsoft.com/office/drawing/2014/main" id="{9FBF5A44-660B-D2D8-3806-BEA7633A0B49}"/>
              </a:ext>
            </a:extLst>
          </p:cNvPr>
          <p:cNvSpPr>
            <a:spLocks noGrp="1"/>
          </p:cNvSpPr>
          <p:nvPr>
            <p:ph sz="quarter" idx="13"/>
          </p:nvPr>
        </p:nvSpPr>
        <p:spPr>
          <a:xfrm>
            <a:off x="323861" y="1011835"/>
            <a:ext cx="9110208" cy="513379"/>
          </a:xfrm>
        </p:spPr>
        <p:txBody>
          <a:bodyPr vert="horz" lIns="91440" tIns="45720" rIns="91440" bIns="45720" rtlCol="0" anchor="t">
            <a:noAutofit/>
          </a:bodyPr>
          <a:lstStyle/>
          <a:p>
            <a:pPr>
              <a:buNone/>
            </a:pPr>
            <a:r>
              <a:rPr lang="en-US" sz="1400">
                <a:ea typeface="+mn-lt"/>
                <a:cs typeface="+mn-lt"/>
              </a:rPr>
              <a:t>Donors at Risk of Becoming Inactive</a:t>
            </a:r>
            <a:endParaRPr lang="en-US"/>
          </a:p>
        </p:txBody>
      </p:sp>
      <p:sp>
        <p:nvSpPr>
          <p:cNvPr id="5" name="TextBox 4">
            <a:extLst>
              <a:ext uri="{FF2B5EF4-FFF2-40B4-BE49-F238E27FC236}">
                <a16:creationId xmlns:a16="http://schemas.microsoft.com/office/drawing/2014/main" id="{DF08A99A-3423-860C-AFC3-44C2CD5CA9D1}"/>
              </a:ext>
            </a:extLst>
          </p:cNvPr>
          <p:cNvSpPr txBox="1"/>
          <p:nvPr/>
        </p:nvSpPr>
        <p:spPr>
          <a:xfrm>
            <a:off x="322952" y="1853226"/>
            <a:ext cx="6063459"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Lora"/>
              </a:rPr>
              <a:t>WHAT THIS REPORT SHOWS</a:t>
            </a:r>
          </a:p>
          <a:p>
            <a:endParaRPr lang="en-US" sz="1400" dirty="0">
              <a:latin typeface="Lora"/>
              <a:ea typeface="+mn-lt"/>
              <a:cs typeface="+mn-lt"/>
            </a:endParaRPr>
          </a:p>
          <a:p>
            <a:r>
              <a:rPr lang="en-US" sz="1400" dirty="0">
                <a:ea typeface="+mn-lt"/>
                <a:cs typeface="+mn-lt"/>
              </a:rPr>
              <a:t>This report identifies </a:t>
            </a:r>
            <a:r>
              <a:rPr lang="en-US" sz="1400" b="1" dirty="0">
                <a:ea typeface="+mn-lt"/>
                <a:cs typeface="+mn-lt"/>
              </a:rPr>
              <a:t>eligible donors who have not donated in the last 180 days (6 months)</a:t>
            </a:r>
            <a:r>
              <a:rPr lang="en-US" sz="1400" dirty="0">
                <a:ea typeface="+mn-lt"/>
                <a:cs typeface="+mn-lt"/>
              </a:rPr>
              <a:t>.</a:t>
            </a:r>
            <a:endParaRPr lang="en-US" sz="1400">
              <a:cs typeface="Poppins Light"/>
            </a:endParaRPr>
          </a:p>
          <a:p>
            <a:endParaRPr lang="en-US" sz="1400" dirty="0">
              <a:ea typeface="+mn-lt"/>
              <a:cs typeface="+mn-lt"/>
            </a:endParaRPr>
          </a:p>
          <a:p>
            <a:r>
              <a:rPr lang="en-US" sz="1400" dirty="0">
                <a:ea typeface="+mn-lt"/>
                <a:cs typeface="+mn-lt"/>
              </a:rPr>
              <a:t>Even though these donors are still marked as </a:t>
            </a:r>
            <a:r>
              <a:rPr lang="en-US" sz="1400" b="1" dirty="0">
                <a:ea typeface="+mn-lt"/>
                <a:cs typeface="+mn-lt"/>
              </a:rPr>
              <a:t>eligible</a:t>
            </a:r>
            <a:r>
              <a:rPr lang="en-US" sz="1400" dirty="0">
                <a:ea typeface="+mn-lt"/>
                <a:cs typeface="+mn-lt"/>
              </a:rPr>
              <a:t>, the absence of recent donations may indicate a risk of </a:t>
            </a:r>
            <a:r>
              <a:rPr lang="en-US" sz="1400" b="1" dirty="0">
                <a:ea typeface="+mn-lt"/>
                <a:cs typeface="+mn-lt"/>
              </a:rPr>
              <a:t>donor inactivity</a:t>
            </a:r>
            <a:r>
              <a:rPr lang="en-US" sz="1400" dirty="0">
                <a:ea typeface="+mn-lt"/>
                <a:cs typeface="+mn-lt"/>
              </a:rPr>
              <a:t>.</a:t>
            </a:r>
          </a:p>
          <a:p>
            <a:endParaRPr lang="en-US" sz="1400" dirty="0">
              <a:ea typeface="+mn-lt"/>
              <a:cs typeface="+mn-lt"/>
            </a:endParaRPr>
          </a:p>
          <a:p>
            <a:r>
              <a:rPr lang="en-US" sz="1400">
                <a:ea typeface="+mn-lt"/>
                <a:cs typeface="+mn-lt"/>
              </a:rPr>
              <a:t>The report lists such donors and calculates the </a:t>
            </a:r>
            <a:r>
              <a:rPr lang="en-US" sz="1400" b="1">
                <a:ea typeface="+mn-lt"/>
                <a:cs typeface="+mn-lt"/>
              </a:rPr>
              <a:t>total number of donors at risk</a:t>
            </a:r>
            <a:r>
              <a:rPr lang="en-US" sz="1400">
                <a:ea typeface="+mn-lt"/>
                <a:cs typeface="+mn-lt"/>
              </a:rPr>
              <a:t>.</a:t>
            </a:r>
            <a:endParaRPr lang="en-US" sz="1400" dirty="0">
              <a:ea typeface="+mn-lt"/>
              <a:cs typeface="+mn-lt"/>
            </a:endParaRPr>
          </a:p>
          <a:p>
            <a:endParaRPr lang="en-US" sz="1400" dirty="0">
              <a:latin typeface="Poppins Light"/>
              <a:cs typeface="Poppins Light"/>
            </a:endParaRPr>
          </a:p>
          <a:p>
            <a:endParaRPr lang="en-US" sz="1400" b="1" dirty="0">
              <a:latin typeface="Lora"/>
              <a:cs typeface="Poppins Light"/>
            </a:endParaRPr>
          </a:p>
        </p:txBody>
      </p:sp>
      <p:sp>
        <p:nvSpPr>
          <p:cNvPr id="4" name="TextBox 3">
            <a:extLst>
              <a:ext uri="{FF2B5EF4-FFF2-40B4-BE49-F238E27FC236}">
                <a16:creationId xmlns:a16="http://schemas.microsoft.com/office/drawing/2014/main" id="{114168C8-0600-C71F-57E4-D47F7566F861}"/>
              </a:ext>
            </a:extLst>
          </p:cNvPr>
          <p:cNvSpPr txBox="1"/>
          <p:nvPr/>
        </p:nvSpPr>
        <p:spPr>
          <a:xfrm>
            <a:off x="323880" y="4768397"/>
            <a:ext cx="5871129" cy="2550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Lora"/>
              </a:rPr>
              <a:t>FACTS AND DIMENSIONS USED</a:t>
            </a:r>
          </a:p>
          <a:p>
            <a:pPr marL="285750" indent="-285750">
              <a:lnSpc>
                <a:spcPct val="150000"/>
              </a:lnSpc>
              <a:buFont typeface="Arial"/>
              <a:buChar char="•"/>
            </a:pPr>
            <a:r>
              <a:rPr lang="en-US" sz="1400" dirty="0" err="1">
                <a:latin typeface="Poppins Light"/>
                <a:cs typeface="Poppins Light"/>
              </a:rPr>
              <a:t>dim_donor</a:t>
            </a:r>
            <a:endParaRPr lang="en-US">
              <a:latin typeface="Poppins Light"/>
              <a:cs typeface="Poppins Light"/>
            </a:endParaRPr>
          </a:p>
          <a:p>
            <a:pPr marL="285750" indent="-285750">
              <a:lnSpc>
                <a:spcPct val="150000"/>
              </a:lnSpc>
              <a:buFont typeface="Arial"/>
              <a:buChar char="•"/>
            </a:pPr>
            <a:r>
              <a:rPr lang="en-US" sz="1400" dirty="0" err="1">
                <a:ea typeface="+mn-lt"/>
                <a:cs typeface="+mn-lt"/>
              </a:rPr>
              <a:t>fct_donations</a:t>
            </a:r>
            <a:endParaRPr lang="en-US" dirty="0" err="1">
              <a:ea typeface="+mn-lt"/>
              <a:cs typeface="+mn-lt"/>
            </a:endParaRPr>
          </a:p>
          <a:p>
            <a:pPr marL="285750" indent="-285750">
              <a:lnSpc>
                <a:spcPct val="150000"/>
              </a:lnSpc>
              <a:buFont typeface="Arial"/>
              <a:buChar char="•"/>
            </a:pPr>
            <a:r>
              <a:rPr lang="en-US" sz="1400" dirty="0" err="1">
                <a:ea typeface="+mn-lt"/>
                <a:cs typeface="+mn-lt"/>
              </a:rPr>
              <a:t>dim_date</a:t>
            </a:r>
            <a:endParaRPr lang="en-US" sz="1400">
              <a:ea typeface="+mn-lt"/>
              <a:cs typeface="+mn-lt"/>
            </a:endParaRPr>
          </a:p>
          <a:p>
            <a:pPr marL="285750" indent="-285750">
              <a:lnSpc>
                <a:spcPct val="150000"/>
              </a:lnSpc>
              <a:buFont typeface="Arial"/>
              <a:buChar char="•"/>
            </a:pPr>
            <a:endParaRPr lang="en-US" sz="1400" dirty="0">
              <a:cs typeface="Poppins Light"/>
            </a:endParaRPr>
          </a:p>
          <a:p>
            <a:pPr marL="285750" indent="-285750">
              <a:lnSpc>
                <a:spcPct val="150000"/>
              </a:lnSpc>
              <a:buFont typeface="Arial"/>
              <a:buChar char="•"/>
            </a:pPr>
            <a:endParaRPr lang="en-US" sz="1400" dirty="0">
              <a:latin typeface="Poppins Light"/>
              <a:cs typeface="Poppins Light"/>
            </a:endParaRPr>
          </a:p>
          <a:p>
            <a:endParaRPr lang="en-US" sz="1400" dirty="0">
              <a:latin typeface="Poppins Light"/>
              <a:cs typeface="Poppins Light"/>
            </a:endParaRPr>
          </a:p>
          <a:p>
            <a:pPr>
              <a:lnSpc>
                <a:spcPct val="150000"/>
              </a:lnSpc>
            </a:pPr>
            <a:endParaRPr lang="en-US" sz="1400" b="1" dirty="0">
              <a:latin typeface="Lora"/>
              <a:cs typeface="Poppins Light"/>
            </a:endParaRPr>
          </a:p>
        </p:txBody>
      </p:sp>
    </p:spTree>
    <p:extLst>
      <p:ext uri="{BB962C8B-B14F-4D97-AF65-F5344CB8AC3E}">
        <p14:creationId xmlns:p14="http://schemas.microsoft.com/office/powerpoint/2010/main" val="1826916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92F5D-F268-23E3-CCEC-D7FD3F580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03B11E-A964-02A7-513E-70812D90C0E4}"/>
              </a:ext>
            </a:extLst>
          </p:cNvPr>
          <p:cNvSpPr>
            <a:spLocks noGrp="1"/>
          </p:cNvSpPr>
          <p:nvPr>
            <p:ph type="title"/>
          </p:nvPr>
        </p:nvSpPr>
        <p:spPr>
          <a:xfrm>
            <a:off x="323861" y="40980"/>
            <a:ext cx="8467558" cy="976094"/>
          </a:xfrm>
        </p:spPr>
        <p:txBody>
          <a:bodyPr>
            <a:normAutofit/>
          </a:bodyPr>
          <a:lstStyle/>
          <a:p>
            <a:r>
              <a:rPr lang="en-US" sz="2200">
                <a:latin typeface="Lora"/>
                <a:cs typeface="Poppins Light"/>
              </a:rPr>
              <a:t>Report</a:t>
            </a:r>
            <a:endParaRPr lang="en-US" sz="2200" dirty="0">
              <a:latin typeface="Lora"/>
              <a:cs typeface="Poppins Light"/>
            </a:endParaRPr>
          </a:p>
        </p:txBody>
      </p:sp>
      <p:sp>
        <p:nvSpPr>
          <p:cNvPr id="3" name="Content Placeholder 2">
            <a:extLst>
              <a:ext uri="{FF2B5EF4-FFF2-40B4-BE49-F238E27FC236}">
                <a16:creationId xmlns:a16="http://schemas.microsoft.com/office/drawing/2014/main" id="{77641328-5FB2-1E30-53A8-8D20F1A01688}"/>
              </a:ext>
            </a:extLst>
          </p:cNvPr>
          <p:cNvSpPr>
            <a:spLocks noGrp="1"/>
          </p:cNvSpPr>
          <p:nvPr>
            <p:ph sz="quarter" idx="13"/>
          </p:nvPr>
        </p:nvSpPr>
        <p:spPr>
          <a:xfrm>
            <a:off x="323861" y="1011835"/>
            <a:ext cx="9110208" cy="513379"/>
          </a:xfrm>
        </p:spPr>
        <p:txBody>
          <a:bodyPr vert="horz" lIns="91440" tIns="45720" rIns="91440" bIns="45720" rtlCol="0" anchor="t">
            <a:noAutofit/>
          </a:bodyPr>
          <a:lstStyle/>
          <a:p>
            <a:pPr>
              <a:buNone/>
            </a:pPr>
            <a:r>
              <a:rPr lang="en-US" sz="1400">
                <a:ea typeface="+mn-lt"/>
                <a:cs typeface="+mn-lt"/>
              </a:rPr>
              <a:t>Hospital Demand vs Supply (Blood Inventory Availability)</a:t>
            </a:r>
            <a:endParaRPr lang="en-US"/>
          </a:p>
        </p:txBody>
      </p:sp>
      <p:sp>
        <p:nvSpPr>
          <p:cNvPr id="5" name="TextBox 4">
            <a:extLst>
              <a:ext uri="{FF2B5EF4-FFF2-40B4-BE49-F238E27FC236}">
                <a16:creationId xmlns:a16="http://schemas.microsoft.com/office/drawing/2014/main" id="{9BA8C5D7-3161-BE5A-EB14-CCB845BF7C2F}"/>
              </a:ext>
            </a:extLst>
          </p:cNvPr>
          <p:cNvSpPr txBox="1"/>
          <p:nvPr/>
        </p:nvSpPr>
        <p:spPr>
          <a:xfrm>
            <a:off x="322952" y="1853226"/>
            <a:ext cx="6063459" cy="30162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Lora"/>
              </a:rPr>
              <a:t>WHAT THIS REPORT SHOWS</a:t>
            </a:r>
          </a:p>
          <a:p>
            <a:endParaRPr lang="en-US" sz="1400" dirty="0">
              <a:latin typeface="Lora"/>
              <a:ea typeface="+mn-lt"/>
              <a:cs typeface="+mn-lt"/>
            </a:endParaRPr>
          </a:p>
          <a:p>
            <a:r>
              <a:rPr lang="en-US" sz="1400">
                <a:ea typeface="+mn-lt"/>
                <a:cs typeface="+mn-lt"/>
              </a:rPr>
              <a:t>This report analyzes the </a:t>
            </a:r>
            <a:r>
              <a:rPr lang="en-US" sz="1400" b="1">
                <a:ea typeface="+mn-lt"/>
                <a:cs typeface="+mn-lt"/>
              </a:rPr>
              <a:t>availability of blood inventory on dates when hospitals have requested blood</a:t>
            </a:r>
            <a:r>
              <a:rPr lang="en-US" sz="1400">
                <a:ea typeface="+mn-lt"/>
                <a:cs typeface="+mn-lt"/>
              </a:rPr>
              <a:t>.</a:t>
            </a:r>
            <a:endParaRPr lang="en-US">
              <a:ea typeface="+mn-lt"/>
              <a:cs typeface="+mn-lt"/>
            </a:endParaRPr>
          </a:p>
          <a:p>
            <a:endParaRPr lang="en-US" sz="1400" dirty="0">
              <a:ea typeface="+mn-lt"/>
              <a:cs typeface="+mn-lt"/>
            </a:endParaRPr>
          </a:p>
          <a:p>
            <a:r>
              <a:rPr lang="en-US" sz="1400">
                <a:ea typeface="+mn-lt"/>
                <a:cs typeface="+mn-lt"/>
              </a:rPr>
              <a:t>It calculates the </a:t>
            </a:r>
            <a:r>
              <a:rPr lang="en-US" sz="1400" b="1">
                <a:ea typeface="+mn-lt"/>
                <a:cs typeface="+mn-lt"/>
              </a:rPr>
              <a:t>number of blood units and total blood volume available for each blood group on the requested dates</a:t>
            </a:r>
            <a:r>
              <a:rPr lang="en-US" sz="1400">
                <a:ea typeface="+mn-lt"/>
                <a:cs typeface="+mn-lt"/>
              </a:rPr>
              <a:t>, considering only usable inventory.</a:t>
            </a:r>
            <a:endParaRPr lang="en-US">
              <a:ea typeface="+mn-lt"/>
              <a:cs typeface="+mn-lt"/>
            </a:endParaRPr>
          </a:p>
          <a:p>
            <a:endParaRPr lang="en-US" sz="1400" dirty="0">
              <a:ea typeface="+mn-lt"/>
              <a:cs typeface="+mn-lt"/>
            </a:endParaRPr>
          </a:p>
          <a:p>
            <a:r>
              <a:rPr lang="en-US" sz="1400" dirty="0">
                <a:ea typeface="+mn-lt"/>
                <a:cs typeface="+mn-lt"/>
              </a:rPr>
              <a:t>The analysis also accounts for </a:t>
            </a:r>
            <a:r>
              <a:rPr lang="en-US" sz="1400" b="1" dirty="0">
                <a:ea typeface="+mn-lt"/>
                <a:cs typeface="+mn-lt"/>
              </a:rPr>
              <a:t>inventory validity periods</a:t>
            </a:r>
            <a:r>
              <a:rPr lang="en-US" sz="1400" dirty="0">
                <a:ea typeface="+mn-lt"/>
                <a:cs typeface="+mn-lt"/>
              </a:rPr>
              <a:t>, ensuring blood units are counted only between their </a:t>
            </a:r>
            <a:r>
              <a:rPr lang="en-US" sz="1400" b="1" dirty="0">
                <a:ea typeface="+mn-lt"/>
                <a:cs typeface="+mn-lt"/>
              </a:rPr>
              <a:t>received date and expiration date</a:t>
            </a:r>
            <a:r>
              <a:rPr lang="en-US" sz="1400" dirty="0">
                <a:ea typeface="+mn-lt"/>
                <a:cs typeface="+mn-lt"/>
              </a:rPr>
              <a:t>.</a:t>
            </a:r>
            <a:endParaRPr lang="en-US" dirty="0"/>
          </a:p>
          <a:p>
            <a:endParaRPr lang="en-US" sz="1400" dirty="0">
              <a:latin typeface="Poppins Light"/>
              <a:cs typeface="Poppins Light"/>
            </a:endParaRPr>
          </a:p>
        </p:txBody>
      </p:sp>
      <p:sp>
        <p:nvSpPr>
          <p:cNvPr id="4" name="TextBox 3">
            <a:extLst>
              <a:ext uri="{FF2B5EF4-FFF2-40B4-BE49-F238E27FC236}">
                <a16:creationId xmlns:a16="http://schemas.microsoft.com/office/drawing/2014/main" id="{32D71AAC-623A-6BF0-A7A5-19C42AB03E96}"/>
              </a:ext>
            </a:extLst>
          </p:cNvPr>
          <p:cNvSpPr txBox="1"/>
          <p:nvPr/>
        </p:nvSpPr>
        <p:spPr>
          <a:xfrm>
            <a:off x="323880" y="4768397"/>
            <a:ext cx="5871129" cy="2550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Lora"/>
              </a:rPr>
              <a:t>FACTS AND DIMENSIONS USED</a:t>
            </a:r>
          </a:p>
          <a:p>
            <a:pPr marL="285750" indent="-285750">
              <a:lnSpc>
                <a:spcPct val="150000"/>
              </a:lnSpc>
              <a:buFont typeface="Arial"/>
              <a:buChar char="•"/>
            </a:pPr>
            <a:r>
              <a:rPr lang="en-US" sz="1400" dirty="0" err="1">
                <a:ea typeface="+mn-lt"/>
                <a:cs typeface="+mn-lt"/>
              </a:rPr>
              <a:t>fct_blood_inventory</a:t>
            </a:r>
            <a:endParaRPr lang="en-US" sz="1400" dirty="0" err="1">
              <a:latin typeface="Poppins Light"/>
              <a:cs typeface="Poppins Light"/>
            </a:endParaRPr>
          </a:p>
          <a:p>
            <a:pPr marL="285750" indent="-285750">
              <a:lnSpc>
                <a:spcPct val="150000"/>
              </a:lnSpc>
              <a:buFont typeface="Arial"/>
              <a:buChar char="•"/>
            </a:pPr>
            <a:r>
              <a:rPr lang="en-US" sz="1400" dirty="0" err="1">
                <a:ea typeface="+mn-lt"/>
                <a:cs typeface="+mn-lt"/>
              </a:rPr>
              <a:t>fct_blood_requests</a:t>
            </a:r>
          </a:p>
          <a:p>
            <a:pPr marL="285750" indent="-285750">
              <a:lnSpc>
                <a:spcPct val="150000"/>
              </a:lnSpc>
              <a:buFont typeface="Arial"/>
              <a:buChar char="•"/>
            </a:pPr>
            <a:r>
              <a:rPr lang="en-US" sz="1400" dirty="0" err="1">
                <a:ea typeface="+mn-lt"/>
                <a:cs typeface="+mn-lt"/>
              </a:rPr>
              <a:t>dim_date</a:t>
            </a:r>
            <a:endParaRPr lang="en-US" sz="1400">
              <a:ea typeface="+mn-lt"/>
              <a:cs typeface="+mn-lt"/>
            </a:endParaRPr>
          </a:p>
          <a:p>
            <a:pPr marL="285750" indent="-285750">
              <a:lnSpc>
                <a:spcPct val="150000"/>
              </a:lnSpc>
              <a:buFont typeface="Arial"/>
              <a:buChar char="•"/>
            </a:pPr>
            <a:endParaRPr lang="en-US" sz="1400" dirty="0">
              <a:cs typeface="Poppins Light"/>
            </a:endParaRPr>
          </a:p>
          <a:p>
            <a:pPr marL="285750" indent="-285750">
              <a:lnSpc>
                <a:spcPct val="150000"/>
              </a:lnSpc>
              <a:buFont typeface="Arial"/>
              <a:buChar char="•"/>
            </a:pPr>
            <a:endParaRPr lang="en-US" sz="1400" dirty="0">
              <a:latin typeface="Poppins Light"/>
              <a:cs typeface="Poppins Light"/>
            </a:endParaRPr>
          </a:p>
          <a:p>
            <a:endParaRPr lang="en-US" sz="1400" dirty="0">
              <a:latin typeface="Poppins Light"/>
              <a:cs typeface="Poppins Light"/>
            </a:endParaRPr>
          </a:p>
          <a:p>
            <a:pPr>
              <a:lnSpc>
                <a:spcPct val="150000"/>
              </a:lnSpc>
            </a:pPr>
            <a:endParaRPr lang="en-US" sz="1400" b="1" dirty="0">
              <a:latin typeface="Lora"/>
              <a:cs typeface="Poppins Light"/>
            </a:endParaRPr>
          </a:p>
        </p:txBody>
      </p:sp>
    </p:spTree>
    <p:extLst>
      <p:ext uri="{BB962C8B-B14F-4D97-AF65-F5344CB8AC3E}">
        <p14:creationId xmlns:p14="http://schemas.microsoft.com/office/powerpoint/2010/main" val="3409934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43A4A-25AB-2ECD-1AD2-5B03801F3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26A61-B2E1-A3A8-7C16-890AC27CC07E}"/>
              </a:ext>
            </a:extLst>
          </p:cNvPr>
          <p:cNvSpPr>
            <a:spLocks noGrp="1"/>
          </p:cNvSpPr>
          <p:nvPr>
            <p:ph type="title"/>
          </p:nvPr>
        </p:nvSpPr>
        <p:spPr>
          <a:xfrm>
            <a:off x="323861" y="40980"/>
            <a:ext cx="8467558" cy="976094"/>
          </a:xfrm>
        </p:spPr>
        <p:txBody>
          <a:bodyPr>
            <a:normAutofit/>
          </a:bodyPr>
          <a:lstStyle/>
          <a:p>
            <a:r>
              <a:rPr lang="en-US" sz="2200">
                <a:latin typeface="Lora"/>
                <a:cs typeface="Poppins Light"/>
              </a:rPr>
              <a:t>Report</a:t>
            </a:r>
            <a:endParaRPr lang="en-US" sz="2200" dirty="0">
              <a:latin typeface="Lora"/>
              <a:cs typeface="Poppins Light"/>
            </a:endParaRPr>
          </a:p>
        </p:txBody>
      </p:sp>
      <p:sp>
        <p:nvSpPr>
          <p:cNvPr id="3" name="Content Placeholder 2">
            <a:extLst>
              <a:ext uri="{FF2B5EF4-FFF2-40B4-BE49-F238E27FC236}">
                <a16:creationId xmlns:a16="http://schemas.microsoft.com/office/drawing/2014/main" id="{98AFD4D4-8CBC-D2DB-F9C0-1E9E83F49590}"/>
              </a:ext>
            </a:extLst>
          </p:cNvPr>
          <p:cNvSpPr>
            <a:spLocks noGrp="1"/>
          </p:cNvSpPr>
          <p:nvPr>
            <p:ph sz="quarter" idx="13"/>
          </p:nvPr>
        </p:nvSpPr>
        <p:spPr>
          <a:xfrm>
            <a:off x="323861" y="1011835"/>
            <a:ext cx="9110208" cy="513379"/>
          </a:xfrm>
        </p:spPr>
        <p:txBody>
          <a:bodyPr vert="horz" lIns="91440" tIns="45720" rIns="91440" bIns="45720" rtlCol="0" anchor="t">
            <a:noAutofit/>
          </a:bodyPr>
          <a:lstStyle/>
          <a:p>
            <a:pPr>
              <a:buNone/>
            </a:pPr>
            <a:r>
              <a:rPr lang="en-US" sz="1400">
                <a:ea typeface="+mn-lt"/>
                <a:cs typeface="+mn-lt"/>
              </a:rPr>
              <a:t>Urgent Blood Requests Analysis</a:t>
            </a:r>
            <a:endParaRPr lang="en-US"/>
          </a:p>
        </p:txBody>
      </p:sp>
      <p:sp>
        <p:nvSpPr>
          <p:cNvPr id="5" name="TextBox 4">
            <a:extLst>
              <a:ext uri="{FF2B5EF4-FFF2-40B4-BE49-F238E27FC236}">
                <a16:creationId xmlns:a16="http://schemas.microsoft.com/office/drawing/2014/main" id="{4EF9C6E0-74A2-7997-6A08-C6AC1ABDF310}"/>
              </a:ext>
            </a:extLst>
          </p:cNvPr>
          <p:cNvSpPr txBox="1"/>
          <p:nvPr/>
        </p:nvSpPr>
        <p:spPr>
          <a:xfrm>
            <a:off x="322952" y="1853226"/>
            <a:ext cx="606345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Lora"/>
              </a:rPr>
              <a:t>WHAT THIS REPORT SHOWS</a:t>
            </a:r>
          </a:p>
          <a:p>
            <a:endParaRPr lang="en-US" sz="1400" dirty="0">
              <a:latin typeface="Lora"/>
              <a:ea typeface="+mn-lt"/>
              <a:cs typeface="+mn-lt"/>
            </a:endParaRPr>
          </a:p>
          <a:p>
            <a:r>
              <a:rPr lang="en-US" sz="1400">
                <a:ea typeface="+mn-lt"/>
                <a:cs typeface="+mn-lt"/>
              </a:rPr>
              <a:t>This report analyzes </a:t>
            </a:r>
            <a:r>
              <a:rPr lang="en-US" sz="1400" b="1">
                <a:ea typeface="+mn-lt"/>
                <a:cs typeface="+mn-lt"/>
              </a:rPr>
              <a:t>how many blood requests are marked as high urgency</a:t>
            </a:r>
            <a:r>
              <a:rPr lang="en-US" sz="1400">
                <a:ea typeface="+mn-lt"/>
                <a:cs typeface="+mn-lt"/>
              </a:rPr>
              <a:t> and calculates the </a:t>
            </a:r>
            <a:r>
              <a:rPr lang="en-US" sz="1400" b="1">
                <a:ea typeface="+mn-lt"/>
                <a:cs typeface="+mn-lt"/>
              </a:rPr>
              <a:t>percentage of urgent requests for each blood group</a:t>
            </a:r>
            <a:r>
              <a:rPr lang="en-US" sz="1400">
                <a:ea typeface="+mn-lt"/>
                <a:cs typeface="+mn-lt"/>
              </a:rPr>
              <a:t>.</a:t>
            </a:r>
            <a:endParaRPr lang="en-US">
              <a:ea typeface="+mn-lt"/>
              <a:cs typeface="+mn-lt"/>
            </a:endParaRPr>
          </a:p>
          <a:p>
            <a:endParaRPr lang="en-US" sz="1400" dirty="0">
              <a:ea typeface="+mn-lt"/>
              <a:cs typeface="+mn-lt"/>
            </a:endParaRPr>
          </a:p>
          <a:p>
            <a:r>
              <a:rPr lang="en-US" sz="1400" dirty="0">
                <a:ea typeface="+mn-lt"/>
                <a:cs typeface="+mn-lt"/>
              </a:rPr>
              <a:t>It helps understand </a:t>
            </a:r>
            <a:r>
              <a:rPr lang="en-US" sz="1400" b="1" dirty="0">
                <a:ea typeface="+mn-lt"/>
                <a:cs typeface="+mn-lt"/>
              </a:rPr>
              <a:t>which blood groups are most frequently required in urgent situations</a:t>
            </a:r>
            <a:r>
              <a:rPr lang="en-US" sz="1400" dirty="0">
                <a:ea typeface="+mn-lt"/>
                <a:cs typeface="+mn-lt"/>
              </a:rPr>
              <a:t> and how emergency demand varies across blood types.</a:t>
            </a:r>
            <a:endParaRPr lang="en-US" dirty="0">
              <a:ea typeface="+mn-lt"/>
              <a:cs typeface="+mn-lt"/>
            </a:endParaRPr>
          </a:p>
          <a:p>
            <a:endParaRPr lang="en-US" sz="1400" dirty="0">
              <a:cs typeface="Poppins Light"/>
            </a:endParaRPr>
          </a:p>
          <a:p>
            <a:endParaRPr lang="en-US" sz="1400" dirty="0">
              <a:latin typeface="Poppins Light"/>
              <a:cs typeface="Poppins Light"/>
            </a:endParaRPr>
          </a:p>
        </p:txBody>
      </p:sp>
      <p:sp>
        <p:nvSpPr>
          <p:cNvPr id="4" name="TextBox 3">
            <a:extLst>
              <a:ext uri="{FF2B5EF4-FFF2-40B4-BE49-F238E27FC236}">
                <a16:creationId xmlns:a16="http://schemas.microsoft.com/office/drawing/2014/main" id="{E5C96D4F-5188-04A5-7FE0-B2E085973B27}"/>
              </a:ext>
            </a:extLst>
          </p:cNvPr>
          <p:cNvSpPr txBox="1"/>
          <p:nvPr/>
        </p:nvSpPr>
        <p:spPr>
          <a:xfrm>
            <a:off x="323880" y="4768397"/>
            <a:ext cx="5871129" cy="22274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Lora"/>
              </a:rPr>
              <a:t>FACTS AND DIMENSIONS USED</a:t>
            </a:r>
          </a:p>
          <a:p>
            <a:pPr marL="285750" indent="-285750">
              <a:lnSpc>
                <a:spcPct val="150000"/>
              </a:lnSpc>
              <a:buFont typeface="Arial"/>
              <a:buChar char="•"/>
            </a:pPr>
            <a:r>
              <a:rPr lang="en-US" sz="1400" dirty="0" err="1">
                <a:ea typeface="+mn-lt"/>
                <a:cs typeface="+mn-lt"/>
              </a:rPr>
              <a:t>fct_blood_requests</a:t>
            </a:r>
            <a:endParaRPr lang="en-US" sz="1400">
              <a:ea typeface="+mn-lt"/>
              <a:cs typeface="+mn-lt"/>
            </a:endParaRPr>
          </a:p>
          <a:p>
            <a:pPr marL="285750" indent="-285750">
              <a:lnSpc>
                <a:spcPct val="150000"/>
              </a:lnSpc>
              <a:buFont typeface="Arial"/>
              <a:buChar char="•"/>
            </a:pPr>
            <a:r>
              <a:rPr lang="en-US" sz="1400" dirty="0" err="1">
                <a:ea typeface="+mn-lt"/>
                <a:cs typeface="+mn-lt"/>
              </a:rPr>
              <a:t>dim_recipient</a:t>
            </a:r>
          </a:p>
          <a:p>
            <a:pPr marL="285750" indent="-285750">
              <a:lnSpc>
                <a:spcPct val="150000"/>
              </a:lnSpc>
              <a:buFont typeface="Arial"/>
              <a:buChar char="•"/>
            </a:pPr>
            <a:endParaRPr lang="en-US" sz="1400" dirty="0">
              <a:cs typeface="Poppins Light"/>
            </a:endParaRPr>
          </a:p>
          <a:p>
            <a:pPr marL="285750" indent="-285750">
              <a:lnSpc>
                <a:spcPct val="150000"/>
              </a:lnSpc>
              <a:buFont typeface="Arial"/>
              <a:buChar char="•"/>
            </a:pPr>
            <a:endParaRPr lang="en-US" sz="1400" dirty="0">
              <a:latin typeface="Poppins Light"/>
              <a:cs typeface="Poppins Light"/>
            </a:endParaRPr>
          </a:p>
          <a:p>
            <a:endParaRPr lang="en-US" sz="1400" dirty="0">
              <a:latin typeface="Poppins Light"/>
              <a:cs typeface="Poppins Light"/>
            </a:endParaRPr>
          </a:p>
          <a:p>
            <a:pPr>
              <a:lnSpc>
                <a:spcPct val="150000"/>
              </a:lnSpc>
            </a:pPr>
            <a:endParaRPr lang="en-US" sz="1400" b="1" dirty="0">
              <a:latin typeface="Lora"/>
              <a:cs typeface="Poppins Light"/>
            </a:endParaRPr>
          </a:p>
        </p:txBody>
      </p:sp>
    </p:spTree>
    <p:extLst>
      <p:ext uri="{BB962C8B-B14F-4D97-AF65-F5344CB8AC3E}">
        <p14:creationId xmlns:p14="http://schemas.microsoft.com/office/powerpoint/2010/main" val="1013679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87EA-8BB3-79C6-656A-1A8ABD658D7E}"/>
              </a:ext>
            </a:extLst>
          </p:cNvPr>
          <p:cNvSpPr>
            <a:spLocks noGrp="1"/>
          </p:cNvSpPr>
          <p:nvPr>
            <p:ph type="ctrTitle"/>
          </p:nvPr>
        </p:nvSpPr>
        <p:spPr>
          <a:xfrm>
            <a:off x="3988331" y="2836415"/>
            <a:ext cx="4222117" cy="900273"/>
          </a:xfrm>
        </p:spPr>
        <p:txBody>
          <a:bodyPr/>
          <a:lstStyle/>
          <a:p>
            <a:r>
              <a:rPr lang="en-US"/>
              <a:t>Thank you!</a:t>
            </a:r>
            <a:endParaRPr lang="en-US" dirty="0"/>
          </a:p>
        </p:txBody>
      </p:sp>
    </p:spTree>
    <p:extLst>
      <p:ext uri="{BB962C8B-B14F-4D97-AF65-F5344CB8AC3E}">
        <p14:creationId xmlns:p14="http://schemas.microsoft.com/office/powerpoint/2010/main" val="3272732094"/>
      </p:ext>
    </p:extLst>
  </p:cSld>
  <p:clrMapOvr>
    <a:masterClrMapping/>
  </p:clrMapOvr>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2.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216</Words>
  <Application>Microsoft Office PowerPoint</Application>
  <PresentationFormat>Widescreen</PresentationFormat>
  <Paragraphs>36</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Gradient Circle</vt:lpstr>
      <vt:lpstr>Blood bank management system</vt:lpstr>
      <vt:lpstr>PowerPoint Presentation</vt:lpstr>
      <vt:lpstr>Monthly donation trends by blood type Donor demographics Donor retention risk Hospital demand vs supply Urgent requests analysis Seasonal donation patterns Daily operations summary Per day inventory levels by blood group Geographic distribution of donors </vt:lpstr>
      <vt:lpstr>Source Dataset Overview</vt:lpstr>
      <vt:lpstr>Data Warehouse Architecture</vt:lpstr>
      <vt:lpstr>RAW Layer  (Truncate &amp; load)</vt:lpstr>
      <vt:lpstr>Staging Layer</vt:lpstr>
      <vt:lpstr>PowerPoint Presentation</vt:lpstr>
      <vt:lpstr>Analytical layer</vt:lpstr>
      <vt:lpstr>DIMENSION Tables</vt:lpstr>
      <vt:lpstr>dimensions Implemented</vt:lpstr>
      <vt:lpstr>Fact Tables</vt:lpstr>
      <vt:lpstr>Fact Tables Implemented</vt:lpstr>
      <vt:lpstr>DATA MODELLING APPROACH</vt:lpstr>
      <vt:lpstr>DIMENSION MODELLING STRATEGY </vt:lpstr>
      <vt:lpstr>Surrogate keys </vt:lpstr>
      <vt:lpstr>DATA TRANSFORMATION USING DBT</vt:lpstr>
      <vt:lpstr>TRANSFORMATION FRAMEWORK </vt:lpstr>
      <vt:lpstr>Report Implementation</vt:lpstr>
      <vt:lpstr>Report</vt:lpstr>
      <vt:lpstr>Report</vt:lpstr>
      <vt:lpstr>Report</vt:lpstr>
      <vt:lpstr>Report</vt:lpstr>
      <vt:lpstr>Report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891</cp:revision>
  <dcterms:created xsi:type="dcterms:W3CDTF">2026-03-05T09:40:56Z</dcterms:created>
  <dcterms:modified xsi:type="dcterms:W3CDTF">2026-03-05T14:31:58Z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